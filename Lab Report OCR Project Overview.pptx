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12192000"/>
  <p:embeddedFontLst>
    <p:embeddedFont>
      <p:font typeface="DM Sans" pitchFamily="2" charset="0"/>
      <p:regular r:id="rId18"/>
      <p:bold r:id="rId19"/>
    </p:embeddedFont>
    <p:embeddedFont>
      <p:font typeface="JetBrains Mono" panose="020B0604020202020204" charset="0"/>
      <p:regular r:id="rId20"/>
      <p:bold r:id="rId21"/>
    </p:embeddedFont>
    <p:embeddedFont>
      <p:font typeface="Space Grotesk" panose="020B0604020202020204" charset="0"/>
      <p:regular r:id="rId22"/>
      <p:bold r:id="rId23"/>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9" d="100"/>
          <a:sy n="89" d="100"/>
        </p:scale>
        <p:origin x="437"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1.fntdata"/><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font" Target="fonts/font4.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6.fntdata"/><Relationship Id="rId10" Type="http://schemas.openxmlformats.org/officeDocument/2006/relationships/slide" Target="slides/slide9.xml"/><Relationship Id="rId19" Type="http://schemas.openxmlformats.org/officeDocument/2006/relationships/font" Target="fonts/font2.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5.fntdata"/><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12250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project turns photos, scans and PDFs of printed lab reports into structured spreadsheet rows. A YOLO object detector finds where each field is on the page, and Tesseract OCR reads what it says. The image shows a real test photo from the dataset, with the detector’s boxes: blue for test names, red for values, green for units and purple for reference ranges. Patient details are redacted in every image we publish.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Results printed on paper and shared as photos or PDFs cannot be searched, charted or audited. The project’s job is to turn them into structured data. The approach has two models: an object detector that finds where the fields are, and an OCR engine that reads them. Reading small, clean crops is far more accurate than running OCR on a whole noisy page: whole-page Tesseract found only 74% of the values anywhere in its output. The last design goal matters most for medical data: when the system is unsure, it says so.</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scope is defined by the data. The 100 photos show only three printed report designs, so the detector knows those three layouts; a new lab’s format needs a handful of labelled pages before it can be read. Inputs can be photos, scans or PDFs. The output is deliberately narrow: four fields per test, never the patient’s name or IDs. The system extracts data; it does not interpret results. The AWS part is fully scripted and tested offline, but it has not been run against a live AWS account.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numbered task in the project brief maps to a concrete deliverable. The repository’s BRIEF_ALIGNMENT.md file has the full item-by-item check. Three deliberate deviations are worth stating up front. First, YOLOv3 was trained as asked, but a smaller modern model, YOLO26n, ships as the default because it scored better on validation (slide 9). Second, the default preprocessing drops the Gaussian blur because tuning showed it hurts; the brief’s exact recipe is still available as a mode. Third, the AWS scripts have only been run in dry-run mode, without a live account.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most important finding about the data came before any modelling: the 100 photos are not 100 reports. They are many photos of just three printed reports, a thyroid panel, a liver panel and a vitamin page. That has three consequences. A random split would leak near-identical photos into the test set, so near-duplicates were grouped with a perceptual hash and assigned to one split together, stratified by report type. It also made annotation much cheaper (next slide). And it limits what we can claim: the scores show how well the pipeline copes with new photos of known layouts.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Because every photo shows one of three known pages, boxes only had to be drawn once per report. For each other photo, SIFT feature matching plus a RANSAC homography, the same maths a phone uses to stitch a panorama, maps the master page onto the photo, and the master boxes are warped across. Boxes cut off by the photo edge are kept for training if at least 25% visible, but are excluded from OCR scoring. All 1,760 transferred boxes were checked visually on QA sheets, including the 50 photos added in this round. The detector learns four classes, shown in the colours used throughout the app.</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exactly the workflow the brief describes: detect, crop the detections into a list, preprocess each crop, read it with Tesseract, save a CSV. Stage 5 is ours: YOLO returns loose boxes, but a lab needs rows. Photos are tilted, so the page angle is estimated first and every box is “un-tilted” before values, units and ranges are attached to the test name on the same line; on the vitamin page the range sits below its name, which the matcher handles. Each row then gets confidence scores and a needs_review flag. One command runs it all on a photo, a PDF or a whole folder.</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strip shows the brief’s preprocessing on one real value crop: resize three times, grayscale, Gaussian blur, an inverted Otsu threshold that gives white text on black, then bitwise_not back to black on white for Tesseract. To improve it without cheating, settings were changed one at a time on the 86 training and validation photos only, using hand-checked boxes so detection errors could not muddy the comparison. Removing the blur, adding a white border and restricting values to digits all helped: 67.9% to 72.3% exact. Thresholding is essential: removing it collapses accuracy to 31%. A separate unit lexicon snaps OCR’d units to a list of about 40 generic clinical units; it gives the biggest single jump, which the next slides show.</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detectors were fine-tuned from COCO weights for 100 epochs at 1024 pixels on an RTX 3050 laptop GPU, with identical data and augmentation; horizontal flips were turned off because a mirrored report is not a real report. YOLOv3 is the Ultralytics yolov3u build, which keeps the Darknet-53 backbone. To keep the comparison honest, the decision rule was written down before the 14 test photos were scored. YOLO26n was 0.06 better on validation, and the test set agreed: 89.2% of fields exactly right against 82.9%. Both detectors find every field at IoU 0.5; the difference is box tightness, which matters on 12-pixel-tall text. Anyone who must use YOLOv3 can pass --weights model/yolov3u_best.pt.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 numbers are on the 14 test photos, which played no part in training or tuning, compared field by field with hand-checked transcriptions. Exact match is the headline because a value that is almost right, 2.14 against 2.4, is still wrong. The shipped pipeline reads 89.2% of fields exactly, against 68.0% for the brief’s recipe on the same boxes, and the character error rate falls from 0.135 to 0.036. Liver and thyroid reports are read well, with every value correct. The vitamin page is the hard case: its text is only 6 to 8 pixels tall, and Tesseract misreads half of its values. With 222 fields, differences under two or three points are within noise.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medical data the number that matters most is not overall accuracy; it is how many mistakes slip through unnoticed. Every row carries a needs_review flag. Across the 62 rows extracted from the test photos, 19 contained at least one wrong field, and the flag caught 18 of them, including all four misread values on the vitamin page. The one row that escaped had a single wrong letter in a test name, “TOTAI” instead of “TOTAL”, with the value and unit correct. In production, flagged rows go to a person; the rest can flow straight into the system. The trade-off today is that many correct rows are flagged too: only 19% pass straight through, and 92% of those are fully correct.</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web app after reading the sample liver report. A user drops in a photo or PDF, or clicks one of the built-in samples. The page shows four summary tiles: tests extracted, rows needing review, mean confidence and processing time. Beside the annotated photo, the extracted table has one row per test; flagged rows are tinted amber with the reason, and each row shows a confidence bar. Every cell is editable, and the CSV and Excel downloads include the corrections. The same server exposes a JSON API with interactive docs at /docs, works in light and dark mode, and fits a phone screen. It runs with one command: uvicorn app.server:app, or docker run custom-ocr serve.</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Reports often arrive as PDFs, so the pipeline reads them too, up to 20 pages, with a page column in the output. There are three cases. A scanned PDF is just images, so each page is rendered at the scan’s native resolution, which keeps the text the size the detector learned, and then read with OCR. A searchable scan carries an invisible OCR layer made by the scanner; it is usually worse than our field-level OCR, so it is ignored. A digital PDF has real text: the detector still finds the fields, but each one is read straight from the PDF’s text layer, which is exact. On a digital test page, all 44 fields came out right, against 42 with OCR. The screenshot shows that case in the app. One caveat: the digital sample was built from a test photo plus its true text, because the dataset has no real digital PDFs.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Deployment is built around a single Docker image with Tesseract and the trained model inside. Started with serve, it is the web app and API. Because the same server also implements SageMaker’s hosting contract, the image deploys unchanged as a serverless SageMaker endpoint, which costs nothing while idle. Started with train, it runs as a SageMaker training job that reads the dataset from S3 and writes the weights back. As a Processing job, it reads every report in an S3 folder and writes CSV and Excel files back. A boto3 script, sm_jobs.py, drives every step, plus S3 sync, a notebook instance that auto-stops when idle, and a cleanup command; notebook 06 walks through it. The container was tested locally against SageMaker’s serving and training contracts and every AWS request was checked in dry-run mode, but nothing has run against a live account yet. Cost: zero on Colab, and with spot training and a serverless endpoint, under a dollar on AWS.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on scope. The detector has learned three report designs; supporting a new lab means labelling about five to ten of its pages, which the homography tool makes quick. The test set is small, so differences of a couple of points are noise. The weakest link is Tesseract on very small print, which is why the vitamin page scores lowest; the next lever is a stronger OCR model on value and unit crops. A cheap clinical safeguard would flag any value far outside its own reference range. And the AWS deployment is ready to run as soon as an account and an IAM role are available. Everything shown today, code, notebooks, results and the report, is in the GitHub repository on screen.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body">
    <p:bg>
      <p:bgPr>
        <a:solidFill>
          <a:srgbClr val="F7F7F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601"/>
            <a:ext cx="10566400" cy="416559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7F3"/>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2800" y="1127761"/>
            <a:ext cx="10566400" cy="447040"/>
          </a:xfrm>
          <a:prstGeom prst="rect">
            <a:avLst/>
          </a:prstGeom>
          <a:noFill/>
          <a:ln/>
        </p:spPr>
        <p:txBody>
          <a:bodyPr wrap="square" lIns="0" tIns="0" rIns="0" bIns="0" rtlCol="0" anchor="t"/>
          <a:lstStyle>
            <a:lvl1pPr marL="0" indent="0" algn="l">
              <a:lnSpc>
                <a:spcPct val="115000"/>
              </a:lnSpc>
              <a:buNone/>
              <a:defRPr lang="en-US" sz="3200" dirty="0">
                <a:solidFill>
                  <a:srgbClr val="14213D"/>
                </a:solidFill>
                <a:latin typeface="Space Grotesk" pitchFamily="34" charset="0"/>
                <a:ea typeface="Space Grotesk" pitchFamily="34" charset="-122"/>
                <a:cs typeface="Space Grotesk" pitchFamily="34" charset="-120"/>
              </a:defRPr>
            </a:lvl1pPr>
          </a:lstStyle>
          <a:p>
            <a:pPr marL="0" indent="0" algn="l">
              <a:lnSpc>
                <a:spcPct val="115000"/>
              </a:lnSpc>
              <a:buNone/>
            </a:pPr>
            <a:endParaRPr lang="en-US" sz="3200" dirty="0"/>
          </a:p>
        </p:txBody>
      </p:sp>
      <p:sp>
        <p:nvSpPr>
          <p:cNvPr id="3" name="Text Placeholder 2"/>
          <p:cNvSpPr>
            <a:spLocks noGrp="1"/>
          </p:cNvSpPr>
          <p:nvPr>
            <p:ph type="body" idx="101"/>
          </p:nvPr>
        </p:nvSpPr>
        <p:spPr>
          <a:xfrm>
            <a:off x="812800" y="1879601"/>
            <a:ext cx="10566400" cy="4165599"/>
          </a:xfrm>
          <a:prstGeom prst="rect">
            <a:avLst/>
          </a:prstGeom>
          <a:noFill/>
          <a:ln/>
        </p:spPr>
        <p:txBody>
          <a:bodyPr wrap="square" lIns="0" tIns="0" rIns="0" bIns="0" rtlCol="0" anchor="t"/>
          <a:lstStyle>
            <a:lvl1pPr marL="0" indent="0" algn="l">
              <a:lnSpc>
                <a:spcPct val="140000"/>
              </a:lnSpc>
              <a:buNone/>
              <a:defRPr lang="en-US" sz="1600" dirty="0">
                <a:solidFill>
                  <a:srgbClr val="14213D"/>
                </a:solidFill>
                <a:latin typeface="DM Sans" pitchFamily="34" charset="0"/>
                <a:ea typeface="DM Sans" pitchFamily="34" charset="-122"/>
                <a:cs typeface="DM Sans" pitchFamily="34" charset="-120"/>
              </a:defRPr>
            </a:lvl1pPr>
          </a:lstStyle>
          <a:p>
            <a:pPr marL="0" indent="0" algn="l">
              <a:lnSpc>
                <a:spcPct val="140000"/>
              </a:lnSpc>
              <a:buNone/>
            </a:pPr>
            <a:endParaRPr lang="en-US" sz="1600"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12.png"/><Relationship Id="rId4" Type="http://schemas.openxmlformats.org/officeDocument/2006/relationships/image" Target="../media/image11.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746250"/>
            <a:ext cx="5049266"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DM Sans" pitchFamily="34" charset="0"/>
                <a:ea typeface="DM Sans" pitchFamily="34" charset="-122"/>
                <a:cs typeface="DM Sans" pitchFamily="34" charset="-120"/>
              </a:rPr>
              <a:t>PROJECT 10 · CUSTOM OCR ON AWS</a:t>
            </a:r>
            <a:endParaRPr lang="en-US" sz="1200" dirty="0"/>
          </a:p>
        </p:txBody>
      </p:sp>
      <p:sp>
        <p:nvSpPr>
          <p:cNvPr id="3" name="Text 1"/>
          <p:cNvSpPr>
            <a:spLocks noGrp="1"/>
          </p:cNvSpPr>
          <p:nvPr>
            <p:ph type="title"/>
          </p:nvPr>
        </p:nvSpPr>
        <p:spPr>
          <a:xfrm>
            <a:off x="812800" y="2162810"/>
            <a:ext cx="5049266" cy="1785620"/>
          </a:xfrm>
          <a:prstGeom prst="rect">
            <a:avLst/>
          </a:prstGeom>
          <a:noFill/>
          <a:ln/>
        </p:spPr>
        <p:txBody>
          <a:bodyPr wrap="square" lIns="0" tIns="0" rIns="0" bIns="0" rtlCol="0" anchor="t">
            <a:normAutofit/>
          </a:bodyPr>
          <a:lstStyle/>
          <a:p>
            <a:pPr marL="0" indent="0" algn="l">
              <a:lnSpc>
                <a:spcPts val="4620"/>
              </a:lnSpc>
              <a:buNone/>
            </a:pPr>
            <a:r>
              <a:rPr lang="en-US" sz="4400" b="1" i="0" dirty="0">
                <a:solidFill>
                  <a:srgbClr val="F7F7F3"/>
                </a:solidFill>
                <a:latin typeface="Space Grotesk" pitchFamily="34" charset="0"/>
                <a:ea typeface="Space Grotesk" pitchFamily="34" charset="-122"/>
                <a:cs typeface="Space Grotesk" pitchFamily="34" charset="-120"/>
              </a:rPr>
              <a:t>Reading lab reports with YOLO and Tesseract</a:t>
            </a:r>
            <a:endParaRPr lang="en-US" sz="4400" dirty="0"/>
          </a:p>
        </p:txBody>
      </p:sp>
      <p:sp>
        <p:nvSpPr>
          <p:cNvPr id="4" name="Text 2"/>
          <p:cNvSpPr/>
          <p:nvPr/>
        </p:nvSpPr>
        <p:spPr>
          <a:xfrm>
            <a:off x="812800" y="4126230"/>
            <a:ext cx="5049266"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B9C4D6"/>
                </a:solidFill>
                <a:latin typeface="DM Sans" pitchFamily="34" charset="0"/>
                <a:ea typeface="DM Sans" pitchFamily="34" charset="-122"/>
                <a:cs typeface="DM Sans" pitchFamily="34" charset="-120"/>
              </a:rPr>
              <a:t>From a photo, scan or PDF of a lab report to an editable CSV or Excel file, one row per test</a:t>
            </a:r>
            <a:endParaRPr lang="en-US" sz="1600" dirty="0"/>
          </a:p>
        </p:txBody>
      </p:sp>
      <p:sp>
        <p:nvSpPr>
          <p:cNvPr id="5" name="Text 3"/>
          <p:cNvSpPr/>
          <p:nvPr/>
        </p:nvSpPr>
        <p:spPr>
          <a:xfrm>
            <a:off x="812800" y="4898390"/>
            <a:ext cx="5049266"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FB3F5"/>
                </a:solidFill>
                <a:latin typeface="DM Sans" pitchFamily="34" charset="0"/>
                <a:ea typeface="DM Sans" pitchFamily="34" charset="-122"/>
                <a:cs typeface="DM Sans" pitchFamily="34" charset="-120"/>
              </a:rPr>
              <a:t>Subharshi Das Purkayastha · October 2026</a:t>
            </a:r>
            <a:endParaRPr lang="en-US" sz="1200" dirty="0"/>
          </a:p>
        </p:txBody>
      </p:sp>
      <p:pic>
        <p:nvPicPr>
          <p:cNvPr id="9" name="Picture 8">
            <a:extLst>
              <a:ext uri="{FF2B5EF4-FFF2-40B4-BE49-F238E27FC236}">
                <a16:creationId xmlns:a16="http://schemas.microsoft.com/office/drawing/2014/main" id="{B778AE9B-B658-B79D-157F-6AFA2C8A97C4}"/>
              </a:ext>
            </a:extLst>
          </p:cNvPr>
          <p:cNvPicPr>
            <a:picLocks noChangeAspect="1"/>
          </p:cNvPicPr>
          <p:nvPr/>
        </p:nvPicPr>
        <p:blipFill>
          <a:blip r:embed="rId3"/>
          <a:stretch>
            <a:fillRect/>
          </a:stretch>
        </p:blipFill>
        <p:spPr>
          <a:xfrm>
            <a:off x="6485691" y="1265370"/>
            <a:ext cx="4580017" cy="4534293"/>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7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71A"/>
                </a:solidFill>
                <a:latin typeface="DM Sans" pitchFamily="34" charset="0"/>
                <a:ea typeface="DM Sans" pitchFamily="34" charset="-122"/>
                <a:cs typeface="DM Sans" pitchFamily="34" charset="-120"/>
              </a:rPr>
              <a:t>THE PROBLEM</a:t>
            </a:r>
            <a:endParaRPr lang="en-US" sz="1200" dirty="0"/>
          </a:p>
        </p:txBody>
      </p:sp>
      <p:sp>
        <p:nvSpPr>
          <p:cNvPr id="3" name="Text 1"/>
          <p:cNvSpPr>
            <a:spLocks noGrp="1"/>
          </p:cNvSpPr>
          <p:nvPr>
            <p:ph type="title"/>
          </p:nvPr>
        </p:nvSpPr>
        <p:spPr>
          <a:xfrm>
            <a:off x="812800" y="1127760"/>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Lab results are trapped in photos and PDFs</a:t>
            </a:r>
            <a:endParaRPr lang="en-US" sz="3200" dirty="0"/>
          </a:p>
        </p:txBody>
      </p:sp>
      <p:sp>
        <p:nvSpPr>
          <p:cNvPr id="4" name="Shape 2"/>
          <p:cNvSpPr/>
          <p:nvPr/>
        </p:nvSpPr>
        <p:spPr>
          <a:xfrm>
            <a:off x="815975" y="1933575"/>
            <a:ext cx="3041650" cy="2289810"/>
          </a:xfrm>
          <a:prstGeom prst="roundRect">
            <a:avLst>
              <a:gd name="adj" fmla="val 4298"/>
            </a:avLst>
          </a:prstGeom>
          <a:solidFill>
            <a:srgbClr val="FDFDFB"/>
          </a:solidFill>
          <a:ln w="6350">
            <a:solidFill>
              <a:srgbClr val="DCE1E8"/>
            </a:solidFill>
            <a:prstDash val="solid"/>
          </a:ln>
        </p:spPr>
      </p:sp>
      <p:pic>
        <p:nvPicPr>
          <p:cNvPr id="5" name="Image 0" descr="Book"/>
          <p:cNvPicPr>
            <a:picLocks noChangeAspect="1"/>
          </p:cNvPicPr>
          <p:nvPr/>
        </p:nvPicPr>
        <p:blipFill>
          <a:blip r:embed="rId3"/>
          <a:srcRect/>
          <a:stretch/>
        </p:blipFill>
        <p:spPr>
          <a:xfrm>
            <a:off x="1071880" y="2189480"/>
            <a:ext cx="304800" cy="304800"/>
          </a:xfrm>
          <a:prstGeom prst="rect">
            <a:avLst/>
          </a:prstGeom>
        </p:spPr>
      </p:pic>
      <p:sp>
        <p:nvSpPr>
          <p:cNvPr id="6" name="Text 3"/>
          <p:cNvSpPr/>
          <p:nvPr/>
        </p:nvSpPr>
        <p:spPr>
          <a:xfrm>
            <a:off x="1071880" y="2595880"/>
            <a:ext cx="260573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In: a report</a:t>
            </a:r>
            <a:endParaRPr lang="en-US" sz="1800" dirty="0"/>
          </a:p>
        </p:txBody>
      </p:sp>
      <p:sp>
        <p:nvSpPr>
          <p:cNvPr id="7" name="Text 4"/>
          <p:cNvSpPr/>
          <p:nvPr/>
        </p:nvSpPr>
        <p:spPr>
          <a:xfrm>
            <a:off x="1071880" y="2971800"/>
            <a:ext cx="2605735"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A phone photo, a scan or a PDF of a printed lab report: tilted, blurred, cropped, colour-cast</a:t>
            </a:r>
            <a:endParaRPr lang="en-US" sz="1400" dirty="0"/>
          </a:p>
        </p:txBody>
      </p:sp>
      <p:pic>
        <p:nvPicPr>
          <p:cNvPr id="8" name="Image 1" descr="arrow-right"/>
          <p:cNvPicPr>
            <a:picLocks noChangeAspect="1"/>
          </p:cNvPicPr>
          <p:nvPr/>
        </p:nvPicPr>
        <p:blipFill>
          <a:blip r:embed="rId4"/>
          <a:srcRect/>
          <a:stretch/>
        </p:blipFill>
        <p:spPr>
          <a:xfrm>
            <a:off x="4013200" y="2976880"/>
            <a:ext cx="406400" cy="203200"/>
          </a:xfrm>
          <a:prstGeom prst="rect">
            <a:avLst/>
          </a:prstGeom>
        </p:spPr>
      </p:pic>
      <p:sp>
        <p:nvSpPr>
          <p:cNvPr id="9" name="Shape 5"/>
          <p:cNvSpPr/>
          <p:nvPr/>
        </p:nvSpPr>
        <p:spPr>
          <a:xfrm>
            <a:off x="4575175" y="1933575"/>
            <a:ext cx="3041650" cy="2289810"/>
          </a:xfrm>
          <a:prstGeom prst="roundRect">
            <a:avLst>
              <a:gd name="adj" fmla="val 4298"/>
            </a:avLst>
          </a:prstGeom>
          <a:solidFill>
            <a:srgbClr val="FDFDFB"/>
          </a:solidFill>
          <a:ln w="6350">
            <a:solidFill>
              <a:srgbClr val="DCE1E8"/>
            </a:solidFill>
            <a:prstDash val="solid"/>
          </a:ln>
        </p:spPr>
      </p:sp>
      <p:pic>
        <p:nvPicPr>
          <p:cNvPr id="10" name="Image 2" descr="Search"/>
          <p:cNvPicPr>
            <a:picLocks noChangeAspect="1"/>
          </p:cNvPicPr>
          <p:nvPr/>
        </p:nvPicPr>
        <p:blipFill>
          <a:blip r:embed="rId5"/>
          <a:srcRect/>
          <a:stretch/>
        </p:blipFill>
        <p:spPr>
          <a:xfrm>
            <a:off x="4831080" y="2189480"/>
            <a:ext cx="304800" cy="304800"/>
          </a:xfrm>
          <a:prstGeom prst="rect">
            <a:avLst/>
          </a:prstGeom>
        </p:spPr>
      </p:pic>
      <p:sp>
        <p:nvSpPr>
          <p:cNvPr id="11" name="Text 6"/>
          <p:cNvSpPr/>
          <p:nvPr/>
        </p:nvSpPr>
        <p:spPr>
          <a:xfrm>
            <a:off x="4831080" y="2595880"/>
            <a:ext cx="260573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Find, then read</a:t>
            </a:r>
            <a:endParaRPr lang="en-US" sz="1800" dirty="0"/>
          </a:p>
        </p:txBody>
      </p:sp>
      <p:sp>
        <p:nvSpPr>
          <p:cNvPr id="12" name="Text 7"/>
          <p:cNvSpPr/>
          <p:nvPr/>
        </p:nvSpPr>
        <p:spPr>
          <a:xfrm>
            <a:off x="4831080" y="2971800"/>
            <a:ext cx="2605735" cy="102108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YOLO locates each field; Tesseract reads the cleaned crop; rows are rebuilt from geometry</a:t>
            </a:r>
            <a:endParaRPr lang="en-US" sz="1400" dirty="0"/>
          </a:p>
        </p:txBody>
      </p:sp>
      <p:pic>
        <p:nvPicPr>
          <p:cNvPr id="13" name="Image 3" descr="arrow-right"/>
          <p:cNvPicPr>
            <a:picLocks noChangeAspect="1"/>
          </p:cNvPicPr>
          <p:nvPr/>
        </p:nvPicPr>
        <p:blipFill>
          <a:blip r:embed="rId4"/>
          <a:srcRect/>
          <a:stretch/>
        </p:blipFill>
        <p:spPr>
          <a:xfrm>
            <a:off x="7772400" y="2976880"/>
            <a:ext cx="406400" cy="203200"/>
          </a:xfrm>
          <a:prstGeom prst="rect">
            <a:avLst/>
          </a:prstGeom>
        </p:spPr>
      </p:pic>
      <p:sp>
        <p:nvSpPr>
          <p:cNvPr id="14" name="Shape 8"/>
          <p:cNvSpPr/>
          <p:nvPr/>
        </p:nvSpPr>
        <p:spPr>
          <a:xfrm>
            <a:off x="8334375" y="2058035"/>
            <a:ext cx="3041650" cy="2040890"/>
          </a:xfrm>
          <a:prstGeom prst="roundRect">
            <a:avLst>
              <a:gd name="adj" fmla="val 4823"/>
            </a:avLst>
          </a:prstGeom>
          <a:solidFill>
            <a:srgbClr val="FDFDFB"/>
          </a:solidFill>
          <a:ln w="6350">
            <a:solidFill>
              <a:srgbClr val="DCE1E8"/>
            </a:solidFill>
            <a:prstDash val="solid"/>
          </a:ln>
        </p:spPr>
      </p:sp>
      <p:pic>
        <p:nvPicPr>
          <p:cNvPr id="15" name="Image 4" descr="Database"/>
          <p:cNvPicPr>
            <a:picLocks noChangeAspect="1"/>
          </p:cNvPicPr>
          <p:nvPr/>
        </p:nvPicPr>
        <p:blipFill>
          <a:blip r:embed="rId6"/>
          <a:srcRect/>
          <a:stretch/>
        </p:blipFill>
        <p:spPr>
          <a:xfrm>
            <a:off x="8590280" y="2313940"/>
            <a:ext cx="304800" cy="304800"/>
          </a:xfrm>
          <a:prstGeom prst="rect">
            <a:avLst/>
          </a:prstGeom>
        </p:spPr>
      </p:pic>
      <p:sp>
        <p:nvSpPr>
          <p:cNvPr id="16" name="Text 9"/>
          <p:cNvSpPr/>
          <p:nvPr/>
        </p:nvSpPr>
        <p:spPr>
          <a:xfrm>
            <a:off x="8590280" y="2720340"/>
            <a:ext cx="2605735"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14213D"/>
                </a:solidFill>
                <a:latin typeface="Space Grotesk" pitchFamily="34" charset="0"/>
                <a:ea typeface="Space Grotesk" pitchFamily="34" charset="-122"/>
                <a:cs typeface="Space Grotesk" pitchFamily="34" charset="-120"/>
              </a:rPr>
              <a:t>Out: a table</a:t>
            </a:r>
            <a:endParaRPr lang="en-US" sz="1800" dirty="0"/>
          </a:p>
        </p:txBody>
      </p:sp>
      <p:sp>
        <p:nvSpPr>
          <p:cNvPr id="17" name="Text 10"/>
          <p:cNvSpPr/>
          <p:nvPr/>
        </p:nvSpPr>
        <p:spPr>
          <a:xfrm>
            <a:off x="8590280" y="3096260"/>
            <a:ext cx="2605735"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CSV or Excel: test name, value, unit, reference range, confidence and a review flag</a:t>
            </a:r>
            <a:endParaRPr lang="en-US" sz="1400" dirty="0"/>
          </a:p>
        </p:txBody>
      </p:sp>
      <p:sp>
        <p:nvSpPr>
          <p:cNvPr id="18" name="Text 11"/>
          <p:cNvSpPr/>
          <p:nvPr/>
        </p:nvSpPr>
        <p:spPr>
          <a:xfrm>
            <a:off x="812800" y="4582160"/>
            <a:ext cx="10883392" cy="594360"/>
          </a:xfrm>
          <a:prstGeom prst="rect">
            <a:avLst/>
          </a:prstGeom>
          <a:noFill/>
          <a:ln/>
        </p:spPr>
        <p:txBody>
          <a:bodyPr wrap="square" lIns="0" tIns="0" rIns="0" bIns="0" rtlCol="0" anchor="t">
            <a:normAutofit/>
          </a:bodyPr>
          <a:lstStyle/>
          <a:p>
            <a:pPr marL="0" indent="0" algn="l">
              <a:lnSpc>
                <a:spcPts val="2240"/>
              </a:lnSpc>
              <a:buNone/>
            </a:pPr>
            <a:r>
              <a:rPr lang="en-US" sz="1600" dirty="0">
                <a:solidFill>
                  <a:srgbClr val="14213D"/>
                </a:solidFill>
                <a:latin typeface="DM Sans" pitchFamily="34" charset="0"/>
                <a:ea typeface="DM Sans" pitchFamily="34" charset="-122"/>
                <a:cs typeface="DM Sans" pitchFamily="34" charset="-120"/>
              </a:rPr>
              <a:t>Goal: turn every report into rows a lab system can search, chart and audit, and send anything uncertain to a person instead of guessing.</a:t>
            </a:r>
            <a:endParaRPr lang="en-US" sz="1600" dirty="0"/>
          </a:p>
        </p:txBody>
      </p:sp>
      <p:sp>
        <p:nvSpPr>
          <p:cNvPr id="19" name="Text 12"/>
          <p:cNvSpPr/>
          <p:nvPr/>
        </p:nvSpPr>
        <p:spPr>
          <a:xfrm>
            <a:off x="812800" y="6238241"/>
            <a:ext cx="29727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6"/>
                </a:solidFill>
                <a:latin typeface="DM Sans" pitchFamily="34" charset="0"/>
                <a:ea typeface="DM Sans" pitchFamily="34" charset="-122"/>
                <a:cs typeface="DM Sans" pitchFamily="34" charset="-120"/>
              </a:rPr>
              <a:t>Lab Report OCR · YOLO + Tesseract</a:t>
            </a:r>
            <a:endParaRPr lang="en-US" sz="1200" dirty="0"/>
          </a:p>
        </p:txBody>
      </p:sp>
      <p:sp>
        <p:nvSpPr>
          <p:cNvPr id="20" name="Text 13"/>
          <p:cNvSpPr/>
          <p:nvPr/>
        </p:nvSpPr>
        <p:spPr>
          <a:xfrm>
            <a:off x="11240612" y="6238241"/>
            <a:ext cx="13858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86"/>
                </a:solidFill>
                <a:latin typeface="DM Sans" pitchFamily="34" charset="0"/>
                <a:ea typeface="DM Sans" pitchFamily="34" charset="-122"/>
                <a:cs typeface="DM Sans" pitchFamily="34" charset="-120"/>
              </a:rPr>
              <a:t>2</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7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71A"/>
                </a:solidFill>
                <a:latin typeface="DM Sans" pitchFamily="34" charset="0"/>
                <a:ea typeface="DM Sans" pitchFamily="34" charset="-122"/>
                <a:cs typeface="DM Sans" pitchFamily="34" charset="-120"/>
              </a:rPr>
              <a:t>SCOPE</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What the project covers, and what it does not</a:t>
            </a:r>
            <a:endParaRPr lang="en-US" sz="3200" dirty="0"/>
          </a:p>
        </p:txBody>
      </p:sp>
      <p:sp>
        <p:nvSpPr>
          <p:cNvPr id="4" name="Shape 2"/>
          <p:cNvSpPr/>
          <p:nvPr/>
        </p:nvSpPr>
        <p:spPr>
          <a:xfrm>
            <a:off x="815975" y="1882775"/>
            <a:ext cx="5175250" cy="2717800"/>
          </a:xfrm>
          <a:prstGeom prst="roundRect">
            <a:avLst>
              <a:gd name="adj" fmla="val 3621"/>
            </a:avLst>
          </a:prstGeom>
          <a:solidFill>
            <a:srgbClr val="FDFDFB"/>
          </a:solidFill>
          <a:ln w="6350">
            <a:solidFill>
              <a:srgbClr val="DCE1E8"/>
            </a:solidFill>
            <a:prstDash val="solid"/>
          </a:ln>
        </p:spPr>
      </p:sp>
      <p:sp>
        <p:nvSpPr>
          <p:cNvPr id="5" name="Text 3"/>
          <p:cNvSpPr/>
          <p:nvPr/>
        </p:nvSpPr>
        <p:spPr>
          <a:xfrm>
            <a:off x="1071880" y="2138680"/>
            <a:ext cx="480334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6BDB"/>
                </a:solidFill>
                <a:latin typeface="Space Grotesk" pitchFamily="34" charset="0"/>
                <a:ea typeface="Space Grotesk" pitchFamily="34" charset="-122"/>
                <a:cs typeface="Space Grotesk" pitchFamily="34" charset="-120"/>
              </a:rPr>
              <a:t>In scope</a:t>
            </a:r>
            <a:endParaRPr lang="en-US" sz="1800" dirty="0"/>
          </a:p>
        </p:txBody>
      </p:sp>
      <p:sp>
        <p:nvSpPr>
          <p:cNvPr id="6" name="Text 4"/>
          <p:cNvSpPr/>
          <p:nvPr/>
        </p:nvSpPr>
        <p:spPr>
          <a:xfrm>
            <a:off x="1156462" y="2540000"/>
            <a:ext cx="4711141" cy="1830070"/>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Printed reports in 3 trained designs: thyroid, liver, vitamin</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Photos, scans and PDFs, including multi-page PDFs</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4 fields per test: name, value, unit, reference range</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CSV and Excel output with a review flag per row</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Colab + Drive and AWS SageMaker + S3 workflows</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Web app, JSON API and a Docker image</a:t>
            </a:r>
            <a:endParaRPr lang="en-US" sz="1400" dirty="0"/>
          </a:p>
        </p:txBody>
      </p:sp>
      <p:sp>
        <p:nvSpPr>
          <p:cNvPr id="7" name="Shape 5"/>
          <p:cNvSpPr/>
          <p:nvPr/>
        </p:nvSpPr>
        <p:spPr>
          <a:xfrm>
            <a:off x="6200775" y="1882775"/>
            <a:ext cx="5175250" cy="2717800"/>
          </a:xfrm>
          <a:prstGeom prst="roundRect">
            <a:avLst>
              <a:gd name="adj" fmla="val 3621"/>
            </a:avLst>
          </a:prstGeom>
          <a:solidFill>
            <a:srgbClr val="FDFDFB"/>
          </a:solidFill>
          <a:ln w="6350">
            <a:solidFill>
              <a:srgbClr val="DCE1E8"/>
            </a:solidFill>
            <a:prstDash val="solid"/>
          </a:ln>
        </p:spPr>
      </p:sp>
      <p:sp>
        <p:nvSpPr>
          <p:cNvPr id="8" name="Text 6"/>
          <p:cNvSpPr/>
          <p:nvPr/>
        </p:nvSpPr>
        <p:spPr>
          <a:xfrm>
            <a:off x="6456680" y="2138680"/>
            <a:ext cx="480334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8571A"/>
                </a:solidFill>
                <a:latin typeface="Space Grotesk" pitchFamily="34" charset="0"/>
                <a:ea typeface="Space Grotesk" pitchFamily="34" charset="-122"/>
                <a:cs typeface="Space Grotesk" pitchFamily="34" charset="-120"/>
              </a:rPr>
              <a:t>Out of scope</a:t>
            </a:r>
            <a:endParaRPr lang="en-US" sz="1800" dirty="0"/>
          </a:p>
        </p:txBody>
      </p:sp>
      <p:sp>
        <p:nvSpPr>
          <p:cNvPr id="9" name="Text 7"/>
          <p:cNvSpPr/>
          <p:nvPr/>
        </p:nvSpPr>
        <p:spPr>
          <a:xfrm>
            <a:off x="6541262" y="2540000"/>
            <a:ext cx="4711141" cy="1314450"/>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Handwritten reports</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New lab layouts without 5–10 labelled pages</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Patient details: never extracted, always redacted</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Clinical interpretation or diagnosis</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A live AWS deployment (scripts tested offline)</a:t>
            </a:r>
            <a:endParaRPr lang="en-US" sz="1400" dirty="0"/>
          </a:p>
        </p:txBody>
      </p:sp>
      <p:sp>
        <p:nvSpPr>
          <p:cNvPr id="10" name="Text 8"/>
          <p:cNvSpPr/>
          <p:nvPr/>
        </p:nvSpPr>
        <p:spPr>
          <a:xfrm>
            <a:off x="812800" y="6238241"/>
            <a:ext cx="29727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6"/>
                </a:solidFill>
                <a:latin typeface="DM Sans" pitchFamily="34" charset="0"/>
                <a:ea typeface="DM Sans" pitchFamily="34" charset="-122"/>
                <a:cs typeface="DM Sans" pitchFamily="34" charset="-120"/>
              </a:rPr>
              <a:t>Lab Report OCR · YOLO + Tesseract</a:t>
            </a:r>
            <a:endParaRPr lang="en-US" sz="1200" dirty="0"/>
          </a:p>
        </p:txBody>
      </p:sp>
      <p:sp>
        <p:nvSpPr>
          <p:cNvPr id="11" name="Text 9"/>
          <p:cNvSpPr/>
          <p:nvPr/>
        </p:nvSpPr>
        <p:spPr>
          <a:xfrm>
            <a:off x="11238309" y="6238241"/>
            <a:ext cx="140891"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86"/>
                </a:solidFill>
                <a:latin typeface="DM Sans" pitchFamily="34" charset="0"/>
                <a:ea typeface="DM Sans" pitchFamily="34" charset="-122"/>
                <a:cs typeface="DM Sans" pitchFamily="34" charset="-120"/>
              </a:rPr>
              <a:t>3</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7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71A"/>
                </a:solidFill>
                <a:latin typeface="DM Sans" pitchFamily="34" charset="0"/>
                <a:ea typeface="DM Sans" pitchFamily="34" charset="-122"/>
                <a:cs typeface="DM Sans" pitchFamily="34" charset="-120"/>
              </a:rPr>
              <a:t>THE BRIEF</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Every task in the brief, delivered</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38960"/>
          <a:ext cx="10556240" cy="3211830"/>
        </p:xfrm>
        <a:graphic>
          <a:graphicData uri="http://schemas.openxmlformats.org/drawingml/2006/table">
            <a:tbl>
              <a:tblPr/>
              <a:tblGrid>
                <a:gridCol w="3589122">
                  <a:extLst>
                    <a:ext uri="{9D8B030D-6E8A-4147-A177-3AD203B41FA5}">
                      <a16:colId xmlns:a16="http://schemas.microsoft.com/office/drawing/2014/main" val="20000"/>
                    </a:ext>
                  </a:extLst>
                </a:gridCol>
                <a:gridCol w="6967118">
                  <a:extLst>
                    <a:ext uri="{9D8B030D-6E8A-4147-A177-3AD203B41FA5}">
                      <a16:colId xmlns:a16="http://schemas.microsoft.com/office/drawing/2014/main" val="20001"/>
                    </a:ext>
                  </a:extLst>
                </a:gridCol>
              </a:tblGrid>
              <a:tr h="356870">
                <a:tc>
                  <a:txBody>
                    <a:bodyPr/>
                    <a:lstStyle/>
                    <a:p>
                      <a:pPr marL="0" indent="0">
                        <a:lnSpc>
                          <a:spcPts val="1820"/>
                        </a:lnSpc>
                        <a:buNone/>
                      </a:pPr>
                      <a:r>
                        <a:rPr lang="en-US" sz="1300" b="1" dirty="0">
                          <a:solidFill>
                            <a:srgbClr val="14213D"/>
                          </a:solidFill>
                          <a:latin typeface="DM Sans" pitchFamily="34" charset="0"/>
                          <a:ea typeface="DM Sans" pitchFamily="34" charset="-122"/>
                          <a:cs typeface="DM Sans" pitchFamily="34" charset="-120"/>
                        </a:rPr>
                        <a:t>Brief task</a:t>
                      </a:r>
                      <a:endParaRPr lang="en-US" sz="1300" dirty="0">
                        <a:latin typeface="DM Sans" charset="0"/>
                        <a:ea typeface="DM Sans" charset="0"/>
                        <a:cs typeface="DM Sans" charset="0"/>
                      </a:endParaRPr>
                    </a:p>
                  </a:txBody>
                  <a:tcPr marL="57785" marR="57785" marT="57785" marB="57785">
                    <a:lnL w="12700" cap="flat" cmpd="sng" algn="ctr">
                      <a:solidFill>
                        <a:srgbClr val="C5C5C2"/>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1"/>
                    </a:solidFill>
                  </a:tcPr>
                </a:tc>
                <a:tc>
                  <a:txBody>
                    <a:bodyPr/>
                    <a:lstStyle/>
                    <a:p>
                      <a:pPr marL="0" indent="0">
                        <a:lnSpc>
                          <a:spcPts val="1820"/>
                        </a:lnSpc>
                        <a:buNone/>
                      </a:pPr>
                      <a:r>
                        <a:rPr lang="en-US" sz="1300" b="1" dirty="0">
                          <a:solidFill>
                            <a:srgbClr val="14213D"/>
                          </a:solidFill>
                          <a:latin typeface="DM Sans" pitchFamily="34" charset="0"/>
                          <a:ea typeface="DM Sans" pitchFamily="34" charset="-122"/>
                          <a:cs typeface="DM Sans" pitchFamily="34" charset="-120"/>
                        </a:rPr>
                        <a:t>Delivered as</a:t>
                      </a:r>
                      <a:endParaRPr lang="en-US" sz="1300" dirty="0">
                        <a:latin typeface="DM Sans" charset="0"/>
                        <a:ea typeface="DM Sans" charset="0"/>
                        <a:cs typeface="DM Sans" charset="0"/>
                      </a:endParaRPr>
                    </a:p>
                  </a:txBody>
                  <a:tcPr marL="57785" marR="57785" marT="57785" marB="57785">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1"/>
                    </a:solidFill>
                  </a:tcPr>
                </a:tc>
                <a:extLst>
                  <a:ext uri="{0D108BD9-81ED-4DB2-BD59-A6C34878D82A}">
                    <a16:rowId xmlns:a16="http://schemas.microsoft.com/office/drawing/2014/main" val="10000"/>
                  </a:ext>
                </a:extLst>
              </a:tr>
              <a:tr h="356870">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1.1 Colab + Google Drive</a:t>
                      </a:r>
                      <a:endParaRPr lang="en-US" sz="1300" dirty="0">
                        <a:latin typeface="DM Sans" charset="0"/>
                        <a:ea typeface="DM Sans" charset="0"/>
                        <a:cs typeface="DM Sans" charset="0"/>
                      </a:endParaRPr>
                    </a:p>
                  </a:txBody>
                  <a:tcPr marL="57785" marR="57785" marT="57785" marB="57785">
                    <a:lnL w="12700" cap="flat" cmpd="sng" algn="ctr">
                      <a:solidFill>
                        <a:srgbClr val="C5C5C2"/>
                      </a:solidFill>
                      <a:prstDash val="solid"/>
                      <a:round/>
                      <a:headEnd type="none" w="med" len="med"/>
                      <a:tailEnd type="none" w="med" len="med"/>
                    </a:lnL>
                    <a:lnR w="12700" cap="flat" cmpd="sng" algn="ctr">
                      <a:solidFill>
                        <a:srgbClr val="C5C5C2"/>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2"/>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Notebooks 01–05 mount Drive and create datasets/, model/, results/</a:t>
                      </a:r>
                      <a:endParaRPr lang="en-US" sz="1300" dirty="0">
                        <a:latin typeface="DM Sans" charset="0"/>
                        <a:ea typeface="DM Sans" charset="0"/>
                        <a:cs typeface="DM Sans" charset="0"/>
                      </a:endParaRPr>
                    </a:p>
                  </a:txBody>
                  <a:tcPr marL="57785" marR="57785" marT="57785" marB="57785">
                    <a:lnL w="12700" cap="flat" cmpd="sng" algn="ctr">
                      <a:solidFill>
                        <a:srgbClr val="C5C5C2"/>
                      </a:solidFill>
                      <a:prstDash val="solid"/>
                      <a:round/>
                      <a:headEnd type="none" w="med" len="med"/>
                      <a:tailEnd type="none" w="med" len="med"/>
                    </a:lnL>
                    <a:lnR w="12700" cap="flat" cmpd="sng" algn="ctr">
                      <a:solidFill>
                        <a:srgbClr val="C5C5C2"/>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2"/>
                      </a:solidFill>
                      <a:prstDash val="solid"/>
                      <a:round/>
                      <a:headEnd type="none" w="med" len="med"/>
                      <a:tailEnd type="none" w="med" len="med"/>
                    </a:lnB>
                  </a:tcPr>
                </a:tc>
                <a:extLst>
                  <a:ext uri="{0D108BD9-81ED-4DB2-BD59-A6C34878D82A}">
                    <a16:rowId xmlns:a16="http://schemas.microsoft.com/office/drawing/2014/main" val="10001"/>
                  </a:ext>
                </a:extLst>
              </a:tr>
              <a:tr h="356870">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1.2 SageMaker + S3</a:t>
                      </a:r>
                      <a:endParaRPr lang="en-US" sz="1300" dirty="0">
                        <a:latin typeface="DM Sans" charset="0"/>
                        <a:ea typeface="DM Sans" charset="0"/>
                        <a:cs typeface="DM Sans" charset="0"/>
                      </a:endParaRPr>
                    </a:p>
                  </a:txBody>
                  <a:tcPr marL="57785" marR="57785" marT="57785" marB="57785">
                    <a:lnL w="12700" cap="flat" cmpd="sng" algn="ctr">
                      <a:solidFill>
                        <a:srgbClr val="C5C5C2"/>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BBEC3"/>
                      </a:solidFill>
                      <a:prstDash val="solid"/>
                      <a:round/>
                      <a:headEnd type="none" w="med" len="med"/>
                      <a:tailEnd type="none" w="med" len="med"/>
                    </a:lnB>
                    <a:solidFill>
                      <a:srgbClr val="EAEEF4"/>
                    </a:solidFill>
                  </a:tcPr>
                </a:tc>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Notebook 06 and aws/: S3 sync, notebook instance, training job</a:t>
                      </a:r>
                      <a:endParaRPr lang="en-US" sz="1300" dirty="0">
                        <a:latin typeface="DM Sans" charset="0"/>
                        <a:ea typeface="DM Sans" charset="0"/>
                        <a:cs typeface="DM Sans" charset="0"/>
                      </a:endParaRPr>
                    </a:p>
                  </a:txBody>
                  <a:tcPr marL="57785" marR="57785" marT="57785" marB="57785">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BBEC3"/>
                      </a:solidFill>
                      <a:prstDash val="solid"/>
                      <a:round/>
                      <a:headEnd type="none" w="med" len="med"/>
                      <a:tailEnd type="none" w="med" len="med"/>
                    </a:lnB>
                    <a:solidFill>
                      <a:srgbClr val="EAEEF4"/>
                    </a:solidFill>
                  </a:tcPr>
                </a:tc>
                <a:extLst>
                  <a:ext uri="{0D108BD9-81ED-4DB2-BD59-A6C34878D82A}">
                    <a16:rowId xmlns:a16="http://schemas.microsoft.com/office/drawing/2014/main" val="10002"/>
                  </a:ext>
                </a:extLst>
              </a:tr>
              <a:tr h="356870">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2 Data preparation</a:t>
                      </a:r>
                      <a:endParaRPr lang="en-US" sz="1300" dirty="0">
                        <a:latin typeface="DM Sans" charset="0"/>
                        <a:ea typeface="DM Sans" charset="0"/>
                        <a:cs typeface="DM Sans" charset="0"/>
                      </a:endParaRPr>
                    </a:p>
                  </a:txBody>
                  <a:tcPr marL="57785" marR="57785" marT="57785" marB="57785">
                    <a:lnL w="12700" cap="flat" cmpd="sng" algn="ctr">
                      <a:solidFill>
                        <a:srgbClr val="C5C5C2"/>
                      </a:solidFill>
                      <a:prstDash val="solid"/>
                      <a:round/>
                      <a:headEnd type="none" w="med" len="med"/>
                      <a:tailEnd type="none" w="med" len="med"/>
                    </a:lnL>
                    <a:lnR w="12700" cap="flat" cmpd="sng" algn="ctr">
                      <a:solidFill>
                        <a:srgbClr val="C5C5C2"/>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C5C5C2"/>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100 photos labelled in YOLO format, leakage-safe split</a:t>
                      </a:r>
                      <a:endParaRPr lang="en-US" sz="1300" dirty="0">
                        <a:latin typeface="DM Sans" charset="0"/>
                        <a:ea typeface="DM Sans" charset="0"/>
                        <a:cs typeface="DM Sans" charset="0"/>
                      </a:endParaRPr>
                    </a:p>
                  </a:txBody>
                  <a:tcPr marL="57785" marR="57785" marT="57785" marB="57785">
                    <a:lnL w="12700" cap="flat" cmpd="sng" algn="ctr">
                      <a:solidFill>
                        <a:srgbClr val="C5C5C2"/>
                      </a:solidFill>
                      <a:prstDash val="solid"/>
                      <a:round/>
                      <a:headEnd type="none" w="med" len="med"/>
                      <a:tailEnd type="none" w="med" len="med"/>
                    </a:lnL>
                    <a:lnR w="12700" cap="flat" cmpd="sng" algn="ctr">
                      <a:solidFill>
                        <a:srgbClr val="C5C5C2"/>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C5C5C2"/>
                      </a:solidFill>
                      <a:prstDash val="solid"/>
                      <a:round/>
                      <a:headEnd type="none" w="med" len="med"/>
                      <a:tailEnd type="none" w="med" len="med"/>
                    </a:lnB>
                  </a:tcPr>
                </a:tc>
                <a:extLst>
                  <a:ext uri="{0D108BD9-81ED-4DB2-BD59-A6C34878D82A}">
                    <a16:rowId xmlns:a16="http://schemas.microsoft.com/office/drawing/2014/main" val="10003"/>
                  </a:ext>
                </a:extLst>
              </a:tr>
              <a:tr h="356870">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3 Train and validate YOLOv3</a:t>
                      </a:r>
                      <a:endParaRPr lang="en-US" sz="1300" dirty="0">
                        <a:latin typeface="DM Sans" charset="0"/>
                        <a:ea typeface="DM Sans" charset="0"/>
                        <a:cs typeface="DM Sans" charset="0"/>
                      </a:endParaRPr>
                    </a:p>
                  </a:txBody>
                  <a:tcPr marL="57785" marR="57785" marT="57785" marB="57785">
                    <a:lnL w="12700" cap="flat" cmpd="sng" algn="ctr">
                      <a:solidFill>
                        <a:srgbClr val="C5C5C2"/>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BBEC3"/>
                      </a:solidFill>
                      <a:prstDash val="solid"/>
                      <a:round/>
                      <a:headEnd type="none" w="med" len="med"/>
                      <a:tailEnd type="none" w="med" len="med"/>
                    </a:lnB>
                    <a:solidFill>
                      <a:srgbClr val="EAEEF4"/>
                    </a:solidFill>
                  </a:tcPr>
                </a:tc>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YOLOv3 and YOLO26n trained on GPU, validated, weights in model/</a:t>
                      </a:r>
                      <a:endParaRPr lang="en-US" sz="1300" dirty="0">
                        <a:latin typeface="DM Sans" charset="0"/>
                        <a:ea typeface="DM Sans" charset="0"/>
                        <a:cs typeface="DM Sans" charset="0"/>
                      </a:endParaRPr>
                    </a:p>
                  </a:txBody>
                  <a:tcPr marL="57785" marR="57785" marT="57785" marB="57785">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BBEC3"/>
                      </a:solidFill>
                      <a:prstDash val="solid"/>
                      <a:round/>
                      <a:headEnd type="none" w="med" len="med"/>
                      <a:tailEnd type="none" w="med" len="med"/>
                    </a:lnB>
                    <a:solidFill>
                      <a:srgbClr val="EAEEF4"/>
                    </a:solidFill>
                  </a:tcPr>
                </a:tc>
                <a:extLst>
                  <a:ext uri="{0D108BD9-81ED-4DB2-BD59-A6C34878D82A}">
                    <a16:rowId xmlns:a16="http://schemas.microsoft.com/office/drawing/2014/main" val="10004"/>
                  </a:ext>
                </a:extLst>
              </a:tr>
              <a:tr h="356870">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4 Crop → Tesseract → CSV</a:t>
                      </a:r>
                      <a:endParaRPr lang="en-US" sz="1300" dirty="0">
                        <a:latin typeface="DM Sans" charset="0"/>
                        <a:ea typeface="DM Sans" charset="0"/>
                        <a:cs typeface="DM Sans" charset="0"/>
                      </a:endParaRPr>
                    </a:p>
                  </a:txBody>
                  <a:tcPr marL="57785" marR="57785" marT="57785" marB="57785">
                    <a:lnL w="12700" cap="flat" cmpd="sng" algn="ctr">
                      <a:solidFill>
                        <a:srgbClr val="C5C5C2"/>
                      </a:solidFill>
                      <a:prstDash val="solid"/>
                      <a:round/>
                      <a:headEnd type="none" w="med" len="med"/>
                      <a:tailEnd type="none" w="med" len="med"/>
                    </a:lnL>
                    <a:lnR w="12700" cap="flat" cmpd="sng" algn="ctr">
                      <a:solidFill>
                        <a:srgbClr val="C5C5C2"/>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C5C5C2"/>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python Custom_OCR.py --image &lt;photo or PDF&gt;</a:t>
                      </a:r>
                      <a:endParaRPr lang="en-US" sz="1300" dirty="0">
                        <a:latin typeface="DM Sans" charset="0"/>
                        <a:ea typeface="DM Sans" charset="0"/>
                        <a:cs typeface="DM Sans" charset="0"/>
                      </a:endParaRPr>
                    </a:p>
                  </a:txBody>
                  <a:tcPr marL="57785" marR="57785" marT="57785" marB="57785">
                    <a:lnL w="12700" cap="flat" cmpd="sng" algn="ctr">
                      <a:solidFill>
                        <a:srgbClr val="C5C5C2"/>
                      </a:solidFill>
                      <a:prstDash val="solid"/>
                      <a:round/>
                      <a:headEnd type="none" w="med" len="med"/>
                      <a:tailEnd type="none" w="med" len="med"/>
                    </a:lnL>
                    <a:lnR w="12700" cap="flat" cmpd="sng" algn="ctr">
                      <a:solidFill>
                        <a:srgbClr val="C5C5C2"/>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C5C5C2"/>
                      </a:solidFill>
                      <a:prstDash val="solid"/>
                      <a:round/>
                      <a:headEnd type="none" w="med" len="med"/>
                      <a:tailEnd type="none" w="med" len="med"/>
                    </a:lnB>
                  </a:tcPr>
                </a:tc>
                <a:extLst>
                  <a:ext uri="{0D108BD9-81ED-4DB2-BD59-A6C34878D82A}">
                    <a16:rowId xmlns:a16="http://schemas.microsoft.com/office/drawing/2014/main" val="10005"/>
                  </a:ext>
                </a:extLst>
              </a:tr>
              <a:tr h="356870">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5 Evaluate and optimise</a:t>
                      </a:r>
                      <a:endParaRPr lang="en-US" sz="1300" dirty="0">
                        <a:latin typeface="DM Sans" charset="0"/>
                        <a:ea typeface="DM Sans" charset="0"/>
                        <a:cs typeface="DM Sans" charset="0"/>
                      </a:endParaRPr>
                    </a:p>
                  </a:txBody>
                  <a:tcPr marL="57785" marR="57785" marT="57785" marB="57785">
                    <a:lnL w="12700" cap="flat" cmpd="sng" algn="ctr">
                      <a:solidFill>
                        <a:srgbClr val="C5C5C2"/>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BBEC3"/>
                      </a:solidFill>
                      <a:prstDash val="solid"/>
                      <a:round/>
                      <a:headEnd type="none" w="med" len="med"/>
                      <a:tailEnd type="none" w="med" len="med"/>
                    </a:lnB>
                    <a:solidFill>
                      <a:srgbClr val="EAEEF4"/>
                    </a:solidFill>
                  </a:tcPr>
                </a:tc>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Ground-truth scoring, preprocessing ablation, error analysis</a:t>
                      </a:r>
                      <a:endParaRPr lang="en-US" sz="1300" dirty="0">
                        <a:latin typeface="DM Sans" charset="0"/>
                        <a:ea typeface="DM Sans" charset="0"/>
                        <a:cs typeface="DM Sans" charset="0"/>
                      </a:endParaRPr>
                    </a:p>
                  </a:txBody>
                  <a:tcPr marL="57785" marR="57785" marT="57785" marB="57785">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BBEC3"/>
                      </a:solidFill>
                      <a:prstDash val="solid"/>
                      <a:round/>
                      <a:headEnd type="none" w="med" len="med"/>
                      <a:tailEnd type="none" w="med" len="med"/>
                    </a:lnB>
                    <a:solidFill>
                      <a:srgbClr val="EAEEF4"/>
                    </a:solidFill>
                  </a:tcPr>
                </a:tc>
                <a:extLst>
                  <a:ext uri="{0D108BD9-81ED-4DB2-BD59-A6C34878D82A}">
                    <a16:rowId xmlns:a16="http://schemas.microsoft.com/office/drawing/2014/main" val="10006"/>
                  </a:ext>
                </a:extLst>
              </a:tr>
              <a:tr h="356870">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6 Automation and deployment</a:t>
                      </a:r>
                      <a:endParaRPr lang="en-US" sz="1300" dirty="0">
                        <a:latin typeface="DM Sans" charset="0"/>
                        <a:ea typeface="DM Sans" charset="0"/>
                        <a:cs typeface="DM Sans" charset="0"/>
                      </a:endParaRPr>
                    </a:p>
                  </a:txBody>
                  <a:tcPr marL="57785" marR="57785" marT="57785" marB="57785">
                    <a:lnL w="12700" cap="flat" cmpd="sng" algn="ctr">
                      <a:solidFill>
                        <a:srgbClr val="C5C5C2"/>
                      </a:solidFill>
                      <a:prstDash val="solid"/>
                      <a:round/>
                      <a:headEnd type="none" w="med" len="med"/>
                      <a:tailEnd type="none" w="med" len="med"/>
                    </a:lnL>
                    <a:lnR w="12700" cap="flat" cmpd="sng" algn="ctr">
                      <a:solidFill>
                        <a:srgbClr val="C5C5C2"/>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C5C5C2"/>
                      </a:solidFill>
                      <a:prstDash val="solid"/>
                      <a:round/>
                      <a:headEnd type="none" w="med" len="med"/>
                      <a:tailEnd type="none" w="med" len="med"/>
                    </a:lnB>
                  </a:tcPr>
                </a:tc>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Batch CLI, web app + API, Docker, SageMaker endpoint and batch job</a:t>
                      </a:r>
                      <a:endParaRPr lang="en-US" sz="1300" dirty="0">
                        <a:latin typeface="DM Sans" charset="0"/>
                        <a:ea typeface="DM Sans" charset="0"/>
                        <a:cs typeface="DM Sans" charset="0"/>
                      </a:endParaRPr>
                    </a:p>
                  </a:txBody>
                  <a:tcPr marL="57785" marR="57785" marT="57785" marB="57785">
                    <a:lnL w="12700" cap="flat" cmpd="sng" algn="ctr">
                      <a:solidFill>
                        <a:srgbClr val="C5C5C2"/>
                      </a:solidFill>
                      <a:prstDash val="solid"/>
                      <a:round/>
                      <a:headEnd type="none" w="med" len="med"/>
                      <a:tailEnd type="none" w="med" len="med"/>
                    </a:lnL>
                    <a:lnR w="12700" cap="flat" cmpd="sng" algn="ctr">
                      <a:solidFill>
                        <a:srgbClr val="C5C5C2"/>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C5C5C2"/>
                      </a:solidFill>
                      <a:prstDash val="solid"/>
                      <a:round/>
                      <a:headEnd type="none" w="med" len="med"/>
                      <a:tailEnd type="none" w="med" len="med"/>
                    </a:lnB>
                  </a:tcPr>
                </a:tc>
                <a:extLst>
                  <a:ext uri="{0D108BD9-81ED-4DB2-BD59-A6C34878D82A}">
                    <a16:rowId xmlns:a16="http://schemas.microsoft.com/office/drawing/2014/main" val="10007"/>
                  </a:ext>
                </a:extLst>
              </a:tr>
              <a:tr h="356870">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7 Documentation</a:t>
                      </a:r>
                      <a:endParaRPr lang="en-US" sz="1300" dirty="0">
                        <a:latin typeface="DM Sans" charset="0"/>
                        <a:ea typeface="DM Sans" charset="0"/>
                        <a:cs typeface="DM Sans" charset="0"/>
                      </a:endParaRPr>
                    </a:p>
                  </a:txBody>
                  <a:tcPr marL="57785" marR="57785" marT="57785" marB="57785">
                    <a:lnL w="12700" cap="flat" cmpd="sng" algn="ctr">
                      <a:solidFill>
                        <a:srgbClr val="C5C5C2"/>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BBEC3"/>
                      </a:solidFill>
                      <a:prstDash val="solid"/>
                      <a:round/>
                      <a:headEnd type="none" w="med" len="med"/>
                      <a:tailEnd type="none" w="med" len="med"/>
                    </a:lnB>
                    <a:solidFill>
                      <a:srgbClr val="EAEEF4"/>
                    </a:solidFill>
                  </a:tcPr>
                </a:tc>
                <a:tc>
                  <a:txBody>
                    <a:bodyPr/>
                    <a:lstStyle/>
                    <a:p>
                      <a:pPr marL="0" indent="0">
                        <a:lnSpc>
                          <a:spcPts val="1820"/>
                        </a:lnSpc>
                        <a:buNone/>
                      </a:pPr>
                      <a:r>
                        <a:rPr lang="en-US" sz="1300" dirty="0">
                          <a:solidFill>
                            <a:srgbClr val="14213D"/>
                          </a:solidFill>
                          <a:latin typeface="DM Sans" pitchFamily="34" charset="0"/>
                          <a:ea typeface="DM Sans" pitchFamily="34" charset="-122"/>
                          <a:cs typeface="DM Sans" pitchFamily="34" charset="-120"/>
                        </a:rPr>
                        <a:t>Six notebooks, README, brief checklist and a PDF report</a:t>
                      </a:r>
                      <a:endParaRPr lang="en-US" sz="1300" dirty="0">
                        <a:latin typeface="DM Sans" charset="0"/>
                        <a:ea typeface="DM Sans" charset="0"/>
                        <a:cs typeface="DM Sans" charset="0"/>
                      </a:endParaRPr>
                    </a:p>
                  </a:txBody>
                  <a:tcPr marL="57785" marR="57785" marT="57785" marB="57785">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BBEC3"/>
                      </a:solidFill>
                      <a:prstDash val="solid"/>
                      <a:round/>
                      <a:headEnd type="none" w="med" len="med"/>
                      <a:tailEnd type="none" w="med" len="med"/>
                    </a:lnB>
                    <a:solidFill>
                      <a:srgbClr val="EAEEF4"/>
                    </a:solidFill>
                  </a:tcPr>
                </a:tc>
                <a:extLst>
                  <a:ext uri="{0D108BD9-81ED-4DB2-BD59-A6C34878D82A}">
                    <a16:rowId xmlns:a16="http://schemas.microsoft.com/office/drawing/2014/main" val="10008"/>
                  </a:ext>
                </a:extLst>
              </a:tr>
            </a:tbl>
          </a:graphicData>
        </a:graphic>
      </p:graphicFrame>
      <p:sp>
        <p:nvSpPr>
          <p:cNvPr id="5" name="Text 2"/>
          <p:cNvSpPr/>
          <p:nvPr/>
        </p:nvSpPr>
        <p:spPr>
          <a:xfrm>
            <a:off x="812800" y="6238239"/>
            <a:ext cx="29727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6"/>
                </a:solidFill>
                <a:latin typeface="DM Sans" pitchFamily="34" charset="0"/>
                <a:ea typeface="DM Sans" pitchFamily="34" charset="-122"/>
                <a:cs typeface="DM Sans" pitchFamily="34" charset="-120"/>
              </a:rPr>
              <a:t>Lab Report OCR · YOLO + Tesseract</a:t>
            </a:r>
            <a:endParaRPr lang="en-US" sz="1200" dirty="0"/>
          </a:p>
        </p:txBody>
      </p:sp>
      <p:sp>
        <p:nvSpPr>
          <p:cNvPr id="6" name="Text 3"/>
          <p:cNvSpPr/>
          <p:nvPr/>
        </p:nvSpPr>
        <p:spPr>
          <a:xfrm>
            <a:off x="11235849" y="6238239"/>
            <a:ext cx="143351"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86"/>
                </a:solidFill>
                <a:latin typeface="DM Sans" pitchFamily="34" charset="0"/>
                <a:ea typeface="DM Sans" pitchFamily="34" charset="-122"/>
                <a:cs typeface="DM Sans" pitchFamily="34" charset="-120"/>
              </a:rPr>
              <a:t>4</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EE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71A"/>
                </a:solidFill>
                <a:latin typeface="DM Sans" pitchFamily="34" charset="0"/>
                <a:ea typeface="DM Sans" pitchFamily="34" charset="-122"/>
                <a:cs typeface="DM Sans" pitchFamily="34" charset="-120"/>
              </a:rPr>
              <a:t>HOW IT WAS BUILT · DATA</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100 photos, but only three printed reports</a:t>
            </a:r>
            <a:endParaRPr lang="en-US" sz="3200" dirty="0"/>
          </a:p>
        </p:txBody>
      </p:sp>
      <p:sp>
        <p:nvSpPr>
          <p:cNvPr id="4" name="Shape 2"/>
          <p:cNvSpPr/>
          <p:nvPr/>
        </p:nvSpPr>
        <p:spPr>
          <a:xfrm>
            <a:off x="812800" y="1930400"/>
            <a:ext cx="2527300" cy="1539240"/>
          </a:xfrm>
          <a:prstGeom prst="roundRect">
            <a:avLst>
              <a:gd name="adj" fmla="val 6601"/>
            </a:avLst>
          </a:prstGeom>
          <a:solidFill>
            <a:srgbClr val="FDFDFB"/>
          </a:solidFill>
          <a:ln/>
        </p:spPr>
      </p:sp>
      <p:sp>
        <p:nvSpPr>
          <p:cNvPr id="5" name="Text 3"/>
          <p:cNvSpPr/>
          <p:nvPr/>
        </p:nvSpPr>
        <p:spPr>
          <a:xfrm>
            <a:off x="1016000" y="2159000"/>
            <a:ext cx="2184527"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6BDB"/>
                </a:solidFill>
                <a:latin typeface="Space Grotesk" pitchFamily="34" charset="0"/>
                <a:ea typeface="Space Grotesk" pitchFamily="34" charset="-122"/>
                <a:cs typeface="Space Grotesk" pitchFamily="34" charset="-120"/>
              </a:rPr>
              <a:t>100</a:t>
            </a:r>
            <a:endParaRPr lang="en-US" sz="3200" dirty="0"/>
          </a:p>
        </p:txBody>
      </p:sp>
      <p:sp>
        <p:nvSpPr>
          <p:cNvPr id="6" name="Text 4"/>
          <p:cNvSpPr/>
          <p:nvPr/>
        </p:nvSpPr>
        <p:spPr>
          <a:xfrm>
            <a:off x="1016000" y="2778761"/>
            <a:ext cx="218452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photos from the course dataset</a:t>
            </a:r>
            <a:endParaRPr lang="en-US" sz="1300" dirty="0"/>
          </a:p>
        </p:txBody>
      </p:sp>
      <p:sp>
        <p:nvSpPr>
          <p:cNvPr id="7" name="Shape 5"/>
          <p:cNvSpPr/>
          <p:nvPr/>
        </p:nvSpPr>
        <p:spPr>
          <a:xfrm>
            <a:off x="3492500" y="1930400"/>
            <a:ext cx="2527300" cy="1539240"/>
          </a:xfrm>
          <a:prstGeom prst="roundRect">
            <a:avLst>
              <a:gd name="adj" fmla="val 6601"/>
            </a:avLst>
          </a:prstGeom>
          <a:solidFill>
            <a:srgbClr val="FDFDFB"/>
          </a:solidFill>
          <a:ln/>
        </p:spPr>
      </p:sp>
      <p:sp>
        <p:nvSpPr>
          <p:cNvPr id="8" name="Text 6"/>
          <p:cNvSpPr/>
          <p:nvPr/>
        </p:nvSpPr>
        <p:spPr>
          <a:xfrm>
            <a:off x="3695700" y="2159000"/>
            <a:ext cx="2184527"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6BDB"/>
                </a:solidFill>
                <a:latin typeface="Space Grotesk" pitchFamily="34" charset="0"/>
                <a:ea typeface="Space Grotesk" pitchFamily="34" charset="-122"/>
                <a:cs typeface="Space Grotesk" pitchFamily="34" charset="-120"/>
              </a:rPr>
              <a:t>3</a:t>
            </a:r>
            <a:endParaRPr lang="en-US" sz="3200" dirty="0"/>
          </a:p>
        </p:txBody>
      </p:sp>
      <p:sp>
        <p:nvSpPr>
          <p:cNvPr id="9" name="Text 7"/>
          <p:cNvSpPr/>
          <p:nvPr/>
        </p:nvSpPr>
        <p:spPr>
          <a:xfrm>
            <a:off x="3695700" y="2778761"/>
            <a:ext cx="218452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report designs: thyroid, liver, vitamin</a:t>
            </a:r>
            <a:endParaRPr lang="en-US" sz="1300" dirty="0"/>
          </a:p>
        </p:txBody>
      </p:sp>
      <p:sp>
        <p:nvSpPr>
          <p:cNvPr id="10" name="Shape 8"/>
          <p:cNvSpPr/>
          <p:nvPr/>
        </p:nvSpPr>
        <p:spPr>
          <a:xfrm>
            <a:off x="6172200" y="1930400"/>
            <a:ext cx="2527300" cy="1539240"/>
          </a:xfrm>
          <a:prstGeom prst="roundRect">
            <a:avLst>
              <a:gd name="adj" fmla="val 6601"/>
            </a:avLst>
          </a:prstGeom>
          <a:solidFill>
            <a:srgbClr val="FDFDFB"/>
          </a:solidFill>
          <a:ln/>
        </p:spPr>
      </p:sp>
      <p:sp>
        <p:nvSpPr>
          <p:cNvPr id="11" name="Text 9"/>
          <p:cNvSpPr/>
          <p:nvPr/>
        </p:nvSpPr>
        <p:spPr>
          <a:xfrm>
            <a:off x="6375400" y="2159000"/>
            <a:ext cx="2184527"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6BDB"/>
                </a:solidFill>
                <a:latin typeface="Space Grotesk" pitchFamily="34" charset="0"/>
                <a:ea typeface="Space Grotesk" pitchFamily="34" charset="-122"/>
                <a:cs typeface="Space Grotesk" pitchFamily="34" charset="-120"/>
              </a:rPr>
              <a:t>1,760</a:t>
            </a:r>
            <a:endParaRPr lang="en-US" sz="3200" dirty="0"/>
          </a:p>
        </p:txBody>
      </p:sp>
      <p:sp>
        <p:nvSpPr>
          <p:cNvPr id="12" name="Text 10"/>
          <p:cNvSpPr/>
          <p:nvPr/>
        </p:nvSpPr>
        <p:spPr>
          <a:xfrm>
            <a:off x="6375400" y="2778761"/>
            <a:ext cx="218452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labelled fields, every one checked by eye</a:t>
            </a:r>
            <a:endParaRPr lang="en-US" sz="1300" dirty="0"/>
          </a:p>
        </p:txBody>
      </p:sp>
      <p:sp>
        <p:nvSpPr>
          <p:cNvPr id="13" name="Shape 11"/>
          <p:cNvSpPr/>
          <p:nvPr/>
        </p:nvSpPr>
        <p:spPr>
          <a:xfrm>
            <a:off x="8851900" y="1930400"/>
            <a:ext cx="2527300" cy="1539240"/>
          </a:xfrm>
          <a:prstGeom prst="roundRect">
            <a:avLst>
              <a:gd name="adj" fmla="val 6601"/>
            </a:avLst>
          </a:prstGeom>
          <a:solidFill>
            <a:srgbClr val="FDFDFB"/>
          </a:solidFill>
          <a:ln/>
        </p:spPr>
      </p:sp>
      <p:sp>
        <p:nvSpPr>
          <p:cNvPr id="14" name="Text 12"/>
          <p:cNvSpPr/>
          <p:nvPr/>
        </p:nvSpPr>
        <p:spPr>
          <a:xfrm>
            <a:off x="9055100" y="2159000"/>
            <a:ext cx="2184527" cy="594360"/>
          </a:xfrm>
          <a:prstGeom prst="rect">
            <a:avLst/>
          </a:prstGeom>
          <a:noFill/>
          <a:ln/>
        </p:spPr>
        <p:txBody>
          <a:bodyPr wrap="square" lIns="0" tIns="0" rIns="0" bIns="0" rtlCol="0" anchor="t">
            <a:normAutofit/>
          </a:bodyPr>
          <a:lstStyle/>
          <a:p>
            <a:pPr marL="0" indent="0" algn="l">
              <a:lnSpc>
                <a:spcPts val="4480"/>
              </a:lnSpc>
              <a:buNone/>
            </a:pPr>
            <a:r>
              <a:rPr lang="en-US" sz="3200" b="1" dirty="0">
                <a:solidFill>
                  <a:srgbClr val="2F6BDB"/>
                </a:solidFill>
                <a:latin typeface="Space Grotesk" pitchFamily="34" charset="0"/>
                <a:ea typeface="Space Grotesk" pitchFamily="34" charset="-122"/>
                <a:cs typeface="Space Grotesk" pitchFamily="34" charset="-120"/>
              </a:rPr>
              <a:t>74/12/14</a:t>
            </a:r>
            <a:endParaRPr lang="en-US" sz="3200" dirty="0"/>
          </a:p>
        </p:txBody>
      </p:sp>
      <p:sp>
        <p:nvSpPr>
          <p:cNvPr id="15" name="Text 13"/>
          <p:cNvSpPr/>
          <p:nvPr/>
        </p:nvSpPr>
        <p:spPr>
          <a:xfrm>
            <a:off x="9055100" y="2778761"/>
            <a:ext cx="218452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train / validation / test photos</a:t>
            </a:r>
            <a:endParaRPr lang="en-US" sz="1300" dirty="0"/>
          </a:p>
        </p:txBody>
      </p:sp>
      <p:sp>
        <p:nvSpPr>
          <p:cNvPr id="16" name="Text 14"/>
          <p:cNvSpPr/>
          <p:nvPr/>
        </p:nvSpPr>
        <p:spPr>
          <a:xfrm>
            <a:off x="812800" y="3825239"/>
            <a:ext cx="10883392" cy="909320"/>
          </a:xfrm>
          <a:prstGeom prst="rect">
            <a:avLst/>
          </a:prstGeom>
          <a:noFill/>
          <a:ln/>
        </p:spPr>
        <p:txBody>
          <a:bodyPr wrap="square" lIns="0" tIns="0" rIns="0" bIns="0" rtlCol="0" anchor="t">
            <a:normAutofit/>
          </a:bodyPr>
          <a:lstStyle/>
          <a:p>
            <a:pPr marL="0" indent="0" algn="l">
              <a:lnSpc>
                <a:spcPts val="2320"/>
              </a:lnSpc>
              <a:buNone/>
            </a:pPr>
            <a:r>
              <a:rPr lang="en-US" sz="1600" dirty="0">
                <a:solidFill>
                  <a:srgbClr val="14213D"/>
                </a:solidFill>
                <a:latin typeface="DM Sans" pitchFamily="34" charset="0"/>
                <a:ea typeface="DM Sans" pitchFamily="34" charset="-122"/>
                <a:cs typeface="DM Sans" pitchFamily="34" charset="-120"/>
              </a:rPr>
              <a:t>The photos are re-shoots of the same three reports under different tilt, blur, crop and colour cast. Near-duplicates are grouped by perceptual hash and kept in one split, so test scores measure robustness to </a:t>
            </a:r>
            <a:r>
              <a:rPr lang="en-US" sz="1600" b="1" dirty="0">
                <a:solidFill>
                  <a:srgbClr val="14213D"/>
                </a:solidFill>
                <a:latin typeface="DM Sans" pitchFamily="34" charset="0"/>
                <a:ea typeface="DM Sans" pitchFamily="34" charset="-122"/>
                <a:cs typeface="DM Sans" pitchFamily="34" charset="-120"/>
              </a:rPr>
              <a:t>photo conditions</a:t>
            </a:r>
            <a:r>
              <a:rPr lang="en-US" sz="1600" dirty="0">
                <a:solidFill>
                  <a:srgbClr val="14213D"/>
                </a:solidFill>
                <a:latin typeface="DM Sans" pitchFamily="34" charset="0"/>
                <a:ea typeface="DM Sans" pitchFamily="34" charset="-122"/>
                <a:cs typeface="DM Sans" pitchFamily="34" charset="-120"/>
              </a:rPr>
              <a:t>, not generalisation to new lab layouts.</a:t>
            </a:r>
            <a:endParaRPr lang="en-US" sz="1600" dirty="0"/>
          </a:p>
        </p:txBody>
      </p:sp>
      <p:sp>
        <p:nvSpPr>
          <p:cNvPr id="17" name="Text 15"/>
          <p:cNvSpPr/>
          <p:nvPr/>
        </p:nvSpPr>
        <p:spPr>
          <a:xfrm>
            <a:off x="812800" y="6238239"/>
            <a:ext cx="29727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6"/>
                </a:solidFill>
                <a:latin typeface="DM Sans" pitchFamily="34" charset="0"/>
                <a:ea typeface="DM Sans" pitchFamily="34" charset="-122"/>
                <a:cs typeface="DM Sans" pitchFamily="34" charset="-120"/>
              </a:rPr>
              <a:t>Lab Report OCR · YOLO + Tesseract</a:t>
            </a:r>
            <a:endParaRPr lang="en-US" sz="1200" dirty="0"/>
          </a:p>
        </p:txBody>
      </p:sp>
      <p:sp>
        <p:nvSpPr>
          <p:cNvPr id="18" name="Text 16"/>
          <p:cNvSpPr/>
          <p:nvPr/>
        </p:nvSpPr>
        <p:spPr>
          <a:xfrm>
            <a:off x="11235372" y="6238239"/>
            <a:ext cx="143828"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86"/>
                </a:solidFill>
                <a:latin typeface="DM Sans" pitchFamily="34" charset="0"/>
                <a:ea typeface="DM Sans" pitchFamily="34" charset="-122"/>
                <a:cs typeface="DM Sans" pitchFamily="34" charset="-120"/>
              </a:rPr>
              <a:t>5</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EAEE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71A"/>
                </a:solidFill>
                <a:latin typeface="DM Sans" pitchFamily="34" charset="0"/>
                <a:ea typeface="DM Sans" pitchFamily="34" charset="-122"/>
                <a:cs typeface="DM Sans" pitchFamily="34" charset="-120"/>
              </a:rPr>
              <a:t>HOW IT WAS BUILT · ANNOTATION</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64 boxes drawn by hand became 1,760 labels</a:t>
            </a:r>
            <a:endParaRPr lang="en-US" sz="3200" dirty="0"/>
          </a:p>
        </p:txBody>
      </p:sp>
      <p:sp>
        <p:nvSpPr>
          <p:cNvPr id="4" name="Shape 2"/>
          <p:cNvSpPr/>
          <p:nvPr/>
        </p:nvSpPr>
        <p:spPr>
          <a:xfrm>
            <a:off x="812800" y="1879600"/>
            <a:ext cx="3081814" cy="1760220"/>
          </a:xfrm>
          <a:prstGeom prst="roundRect">
            <a:avLst>
              <a:gd name="adj" fmla="val 5772"/>
            </a:avLst>
          </a:prstGeom>
          <a:solidFill>
            <a:srgbClr val="FDFDFB"/>
          </a:solidFill>
          <a:ln/>
        </p:spPr>
      </p:sp>
      <p:sp>
        <p:nvSpPr>
          <p:cNvPr id="5" name="Text 3"/>
          <p:cNvSpPr/>
          <p:nvPr/>
        </p:nvSpPr>
        <p:spPr>
          <a:xfrm>
            <a:off x="1041400" y="2108200"/>
            <a:ext cx="2703352"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BDB"/>
                </a:solidFill>
                <a:latin typeface="DM Sans" pitchFamily="34" charset="0"/>
                <a:ea typeface="DM Sans" pitchFamily="34" charset="-122"/>
                <a:cs typeface="DM Sans" pitchFamily="34" charset="-120"/>
              </a:rPr>
              <a:t>STEP 1</a:t>
            </a:r>
            <a:endParaRPr lang="en-US" sz="1200" dirty="0"/>
          </a:p>
        </p:txBody>
      </p:sp>
      <p:sp>
        <p:nvSpPr>
          <p:cNvPr id="6" name="Text 4"/>
          <p:cNvSpPr/>
          <p:nvPr/>
        </p:nvSpPr>
        <p:spPr>
          <a:xfrm>
            <a:off x="1041400" y="2397761"/>
            <a:ext cx="270335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Draw once</a:t>
            </a:r>
            <a:endParaRPr lang="en-US" sz="1600" dirty="0"/>
          </a:p>
        </p:txBody>
      </p:sp>
      <p:sp>
        <p:nvSpPr>
          <p:cNvPr id="7" name="Text 5"/>
          <p:cNvSpPr/>
          <p:nvPr/>
        </p:nvSpPr>
        <p:spPr>
          <a:xfrm>
            <a:off x="1041400" y="2717800"/>
            <a:ext cx="2703352"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64 boxes and their text, checked by hand on one master photo per report</a:t>
            </a:r>
            <a:endParaRPr lang="en-US" sz="1300" dirty="0"/>
          </a:p>
        </p:txBody>
      </p:sp>
      <p:pic>
        <p:nvPicPr>
          <p:cNvPr id="8" name="Image 0" descr="arrow-right"/>
          <p:cNvPicPr>
            <a:picLocks noChangeAspect="1"/>
          </p:cNvPicPr>
          <p:nvPr/>
        </p:nvPicPr>
        <p:blipFill>
          <a:blip r:embed="rId3"/>
          <a:srcRect/>
          <a:stretch/>
        </p:blipFill>
        <p:spPr>
          <a:xfrm>
            <a:off x="4047014" y="2670811"/>
            <a:ext cx="355600" cy="177800"/>
          </a:xfrm>
          <a:prstGeom prst="rect">
            <a:avLst/>
          </a:prstGeom>
        </p:spPr>
      </p:pic>
      <p:sp>
        <p:nvSpPr>
          <p:cNvPr id="9" name="Shape 6"/>
          <p:cNvSpPr/>
          <p:nvPr/>
        </p:nvSpPr>
        <p:spPr>
          <a:xfrm>
            <a:off x="4555014" y="1879600"/>
            <a:ext cx="3081893" cy="1760220"/>
          </a:xfrm>
          <a:prstGeom prst="roundRect">
            <a:avLst>
              <a:gd name="adj" fmla="val 5772"/>
            </a:avLst>
          </a:prstGeom>
          <a:solidFill>
            <a:srgbClr val="FDFDFB"/>
          </a:solidFill>
          <a:ln/>
        </p:spPr>
      </p:sp>
      <p:sp>
        <p:nvSpPr>
          <p:cNvPr id="10" name="Text 7"/>
          <p:cNvSpPr/>
          <p:nvPr/>
        </p:nvSpPr>
        <p:spPr>
          <a:xfrm>
            <a:off x="4783614" y="2108200"/>
            <a:ext cx="270343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BDB"/>
                </a:solidFill>
                <a:latin typeface="DM Sans" pitchFamily="34" charset="0"/>
                <a:ea typeface="DM Sans" pitchFamily="34" charset="-122"/>
                <a:cs typeface="DM Sans" pitchFamily="34" charset="-120"/>
              </a:rPr>
              <a:t>STEP 2</a:t>
            </a:r>
            <a:endParaRPr lang="en-US" sz="1200" dirty="0"/>
          </a:p>
        </p:txBody>
      </p:sp>
      <p:sp>
        <p:nvSpPr>
          <p:cNvPr id="11" name="Text 8"/>
          <p:cNvSpPr/>
          <p:nvPr/>
        </p:nvSpPr>
        <p:spPr>
          <a:xfrm>
            <a:off x="4783614" y="2397761"/>
            <a:ext cx="270343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Match</a:t>
            </a:r>
            <a:endParaRPr lang="en-US" sz="1600" dirty="0"/>
          </a:p>
        </p:txBody>
      </p:sp>
      <p:sp>
        <p:nvSpPr>
          <p:cNvPr id="12" name="Text 9"/>
          <p:cNvSpPr/>
          <p:nvPr/>
        </p:nvSpPr>
        <p:spPr>
          <a:xfrm>
            <a:off x="4783614" y="2717800"/>
            <a:ext cx="2703434"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SIFT keypoints + RANSAC find each photo’s homography to its master</a:t>
            </a:r>
            <a:endParaRPr lang="en-US" sz="1300" dirty="0"/>
          </a:p>
        </p:txBody>
      </p:sp>
      <p:pic>
        <p:nvPicPr>
          <p:cNvPr id="13" name="Image 1" descr="arrow-right"/>
          <p:cNvPicPr>
            <a:picLocks noChangeAspect="1"/>
          </p:cNvPicPr>
          <p:nvPr/>
        </p:nvPicPr>
        <p:blipFill>
          <a:blip r:embed="rId3"/>
          <a:srcRect/>
          <a:stretch/>
        </p:blipFill>
        <p:spPr>
          <a:xfrm>
            <a:off x="7789307" y="2670811"/>
            <a:ext cx="355600" cy="177800"/>
          </a:xfrm>
          <a:prstGeom prst="rect">
            <a:avLst/>
          </a:prstGeom>
        </p:spPr>
      </p:pic>
      <p:sp>
        <p:nvSpPr>
          <p:cNvPr id="14" name="Shape 10"/>
          <p:cNvSpPr/>
          <p:nvPr/>
        </p:nvSpPr>
        <p:spPr>
          <a:xfrm>
            <a:off x="8297307" y="1879600"/>
            <a:ext cx="3081893" cy="1760220"/>
          </a:xfrm>
          <a:prstGeom prst="roundRect">
            <a:avLst>
              <a:gd name="adj" fmla="val 5772"/>
            </a:avLst>
          </a:prstGeom>
          <a:solidFill>
            <a:srgbClr val="FDFDFB"/>
          </a:solidFill>
          <a:ln/>
        </p:spPr>
      </p:sp>
      <p:sp>
        <p:nvSpPr>
          <p:cNvPr id="15" name="Text 11"/>
          <p:cNvSpPr/>
          <p:nvPr/>
        </p:nvSpPr>
        <p:spPr>
          <a:xfrm>
            <a:off x="8525907" y="2108200"/>
            <a:ext cx="2703434"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BDB"/>
                </a:solidFill>
                <a:latin typeface="DM Sans" pitchFamily="34" charset="0"/>
                <a:ea typeface="DM Sans" pitchFamily="34" charset="-122"/>
                <a:cs typeface="DM Sans" pitchFamily="34" charset="-120"/>
              </a:rPr>
              <a:t>STEP 3</a:t>
            </a:r>
            <a:endParaRPr lang="en-US" sz="1200" dirty="0"/>
          </a:p>
        </p:txBody>
      </p:sp>
      <p:sp>
        <p:nvSpPr>
          <p:cNvPr id="16" name="Text 12"/>
          <p:cNvSpPr/>
          <p:nvPr/>
        </p:nvSpPr>
        <p:spPr>
          <a:xfrm>
            <a:off x="8525907" y="2397761"/>
            <a:ext cx="270343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Warp and check</a:t>
            </a:r>
            <a:endParaRPr lang="en-US" sz="1600" dirty="0"/>
          </a:p>
        </p:txBody>
      </p:sp>
      <p:sp>
        <p:nvSpPr>
          <p:cNvPr id="17" name="Text 13"/>
          <p:cNvSpPr/>
          <p:nvPr/>
        </p:nvSpPr>
        <p:spPr>
          <a:xfrm>
            <a:off x="8525907" y="2717800"/>
            <a:ext cx="2703434" cy="71882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Boxes warped onto all 100 photos, written as YOLO labels, inspected on QA sheets</a:t>
            </a:r>
            <a:endParaRPr lang="en-US" sz="1300" dirty="0"/>
          </a:p>
        </p:txBody>
      </p:sp>
      <p:sp>
        <p:nvSpPr>
          <p:cNvPr id="18" name="Text 14"/>
          <p:cNvSpPr/>
          <p:nvPr/>
        </p:nvSpPr>
        <p:spPr>
          <a:xfrm>
            <a:off x="812800" y="3944621"/>
            <a:ext cx="3092450" cy="408940"/>
          </a:xfrm>
          <a:prstGeom prst="roundRect">
            <a:avLst>
              <a:gd name="adj" fmla="val 15528"/>
            </a:avLst>
          </a:prstGeom>
          <a:solidFill>
            <a:srgbClr val="FDFDFB"/>
          </a:solidFill>
          <a:ln/>
        </p:spPr>
        <p:txBody>
          <a:bodyPr wrap="none" lIns="0" tIns="0" rIns="121101" bIns="0" rtlCol="0" anchor="ctr">
            <a:normAutofit/>
          </a:bodyPr>
          <a:lstStyle/>
          <a:p>
            <a:pPr marL="0" indent="0" algn="r">
              <a:lnSpc>
                <a:spcPts val="1820"/>
              </a:lnSpc>
              <a:buNone/>
            </a:pPr>
            <a:r>
              <a:rPr lang="en-US" sz="1300" b="1" dirty="0">
                <a:solidFill>
                  <a:srgbClr val="14213D"/>
                </a:solidFill>
                <a:latin typeface="DM Sans" pitchFamily="34" charset="0"/>
                <a:ea typeface="DM Sans" pitchFamily="34" charset="-122"/>
                <a:cs typeface="DM Sans" pitchFamily="34" charset="-120"/>
              </a:rPr>
              <a:t>test_name</a:t>
            </a:r>
            <a:r>
              <a:rPr lang="en-US" sz="1300" dirty="0">
                <a:solidFill>
                  <a:srgbClr val="14213D"/>
                </a:solidFill>
                <a:latin typeface="DM Sans" pitchFamily="34" charset="0"/>
                <a:ea typeface="DM Sans" pitchFamily="34" charset="-122"/>
                <a:cs typeface="DM Sans" pitchFamily="34" charset="-120"/>
              </a:rPr>
              <a:t> · TOTAL THYROXINE (T4)</a:t>
            </a:r>
            <a:endParaRPr lang="en-US" sz="1300" dirty="0"/>
          </a:p>
        </p:txBody>
      </p:sp>
      <p:sp>
        <p:nvSpPr>
          <p:cNvPr id="19" name="Shape 15"/>
          <p:cNvSpPr/>
          <p:nvPr/>
        </p:nvSpPr>
        <p:spPr>
          <a:xfrm>
            <a:off x="812800" y="3944621"/>
            <a:ext cx="3092450" cy="408940"/>
          </a:xfrm>
          <a:custGeom>
            <a:avLst/>
            <a:gdLst/>
            <a:ahLst/>
            <a:cxnLst/>
            <a:rect l="l" t="t" r="r" b="b"/>
            <a:pathLst>
              <a:path w="3092450" h="408940">
                <a:moveTo>
                  <a:pt x="63500" y="408940"/>
                </a:moveTo>
                <a:lnTo>
                  <a:pt x="63500" y="408940"/>
                </a:lnTo>
                <a:arcTo wR="63500" hR="63500" stAng="5400000" swAng="5400000"/>
                <a:lnTo>
                  <a:pt x="0" y="63500"/>
                </a:lnTo>
                <a:arcTo wR="63500" hR="63500" stAng="10800000" swAng="5400000"/>
                <a:lnTo>
                  <a:pt x="63500" y="0"/>
                </a:lnTo>
                <a:arcTo wR="12700" hR="63500" stAng="16200000" swAng="-5400000"/>
                <a:lnTo>
                  <a:pt x="50800" y="345440"/>
                </a:lnTo>
                <a:arcTo wR="12700" hR="63500" stAng="10800000" swAng="-5400000"/>
                <a:close/>
              </a:path>
            </a:pathLst>
          </a:custGeom>
          <a:solidFill>
            <a:srgbClr val="2A78D6"/>
          </a:solidFill>
          <a:ln/>
        </p:spPr>
      </p:sp>
      <p:sp>
        <p:nvSpPr>
          <p:cNvPr id="20" name="Text 16"/>
          <p:cNvSpPr/>
          <p:nvPr/>
        </p:nvSpPr>
        <p:spPr>
          <a:xfrm>
            <a:off x="4032250" y="3944621"/>
            <a:ext cx="1156811" cy="408940"/>
          </a:xfrm>
          <a:prstGeom prst="roundRect">
            <a:avLst>
              <a:gd name="adj" fmla="val 15528"/>
            </a:avLst>
          </a:prstGeom>
          <a:solidFill>
            <a:srgbClr val="FDFDFB"/>
          </a:solidFill>
          <a:ln/>
        </p:spPr>
        <p:txBody>
          <a:bodyPr wrap="none" lIns="0" tIns="0" rIns="121101" bIns="0" rtlCol="0" anchor="ctr">
            <a:normAutofit/>
          </a:bodyPr>
          <a:lstStyle/>
          <a:p>
            <a:pPr marL="0" indent="0" algn="r">
              <a:lnSpc>
                <a:spcPts val="1820"/>
              </a:lnSpc>
              <a:buNone/>
            </a:pPr>
            <a:r>
              <a:rPr lang="en-US" sz="1300" b="1" dirty="0">
                <a:solidFill>
                  <a:srgbClr val="14213D"/>
                </a:solidFill>
                <a:latin typeface="DM Sans" pitchFamily="34" charset="0"/>
                <a:ea typeface="DM Sans" pitchFamily="34" charset="-122"/>
                <a:cs typeface="DM Sans" pitchFamily="34" charset="-120"/>
              </a:rPr>
              <a:t>value</a:t>
            </a:r>
            <a:r>
              <a:rPr lang="en-US" sz="1300" dirty="0">
                <a:solidFill>
                  <a:srgbClr val="14213D"/>
                </a:solidFill>
                <a:latin typeface="DM Sans" pitchFamily="34" charset="0"/>
                <a:ea typeface="DM Sans" pitchFamily="34" charset="-122"/>
                <a:cs typeface="DM Sans" pitchFamily="34" charset="-120"/>
              </a:rPr>
              <a:t> · 2.14</a:t>
            </a:r>
            <a:endParaRPr lang="en-US" sz="1300" dirty="0"/>
          </a:p>
        </p:txBody>
      </p:sp>
      <p:sp>
        <p:nvSpPr>
          <p:cNvPr id="21" name="Shape 17"/>
          <p:cNvSpPr/>
          <p:nvPr/>
        </p:nvSpPr>
        <p:spPr>
          <a:xfrm>
            <a:off x="4032250" y="3944621"/>
            <a:ext cx="1156811" cy="408940"/>
          </a:xfrm>
          <a:custGeom>
            <a:avLst/>
            <a:gdLst/>
            <a:ahLst/>
            <a:cxnLst/>
            <a:rect l="l" t="t" r="r" b="b"/>
            <a:pathLst>
              <a:path w="1156811" h="408940">
                <a:moveTo>
                  <a:pt x="63500" y="408940"/>
                </a:moveTo>
                <a:lnTo>
                  <a:pt x="63500" y="408940"/>
                </a:lnTo>
                <a:arcTo wR="63500" hR="63500" stAng="5400000" swAng="5400000"/>
                <a:lnTo>
                  <a:pt x="0" y="63500"/>
                </a:lnTo>
                <a:arcTo wR="63500" hR="63500" stAng="10800000" swAng="5400000"/>
                <a:lnTo>
                  <a:pt x="63500" y="0"/>
                </a:lnTo>
                <a:arcTo wR="12700" hR="63500" stAng="16200000" swAng="-5400000"/>
                <a:lnTo>
                  <a:pt x="50800" y="345440"/>
                </a:lnTo>
                <a:arcTo wR="12700" hR="63500" stAng="10800000" swAng="-5400000"/>
                <a:close/>
              </a:path>
            </a:pathLst>
          </a:custGeom>
          <a:solidFill>
            <a:srgbClr val="E5352A"/>
          </a:solidFill>
          <a:ln/>
        </p:spPr>
      </p:sp>
      <p:sp>
        <p:nvSpPr>
          <p:cNvPr id="22" name="Text 18"/>
          <p:cNvSpPr/>
          <p:nvPr/>
        </p:nvSpPr>
        <p:spPr>
          <a:xfrm>
            <a:off x="5316061" y="3944621"/>
            <a:ext cx="1254998" cy="408940"/>
          </a:xfrm>
          <a:prstGeom prst="roundRect">
            <a:avLst>
              <a:gd name="adj" fmla="val 15528"/>
            </a:avLst>
          </a:prstGeom>
          <a:solidFill>
            <a:srgbClr val="FDFDFB"/>
          </a:solidFill>
          <a:ln/>
        </p:spPr>
        <p:txBody>
          <a:bodyPr wrap="none" lIns="0" tIns="0" rIns="121101" bIns="0" rtlCol="0" anchor="ctr">
            <a:normAutofit/>
          </a:bodyPr>
          <a:lstStyle/>
          <a:p>
            <a:pPr marL="0" indent="0" algn="r">
              <a:lnSpc>
                <a:spcPts val="1820"/>
              </a:lnSpc>
              <a:buNone/>
            </a:pPr>
            <a:r>
              <a:rPr lang="en-US" sz="1300" b="1" dirty="0">
                <a:solidFill>
                  <a:srgbClr val="14213D"/>
                </a:solidFill>
                <a:latin typeface="DM Sans" pitchFamily="34" charset="0"/>
                <a:ea typeface="DM Sans" pitchFamily="34" charset="-122"/>
                <a:cs typeface="DM Sans" pitchFamily="34" charset="-120"/>
              </a:rPr>
              <a:t>unit</a:t>
            </a:r>
            <a:r>
              <a:rPr lang="en-US" sz="1300" dirty="0">
                <a:solidFill>
                  <a:srgbClr val="14213D"/>
                </a:solidFill>
                <a:latin typeface="DM Sans" pitchFamily="34" charset="0"/>
                <a:ea typeface="DM Sans" pitchFamily="34" charset="-122"/>
                <a:cs typeface="DM Sans" pitchFamily="34" charset="-120"/>
              </a:rPr>
              <a:t> · µIU/ml</a:t>
            </a:r>
            <a:endParaRPr lang="en-US" sz="1300" dirty="0"/>
          </a:p>
        </p:txBody>
      </p:sp>
      <p:sp>
        <p:nvSpPr>
          <p:cNvPr id="23" name="Shape 19"/>
          <p:cNvSpPr/>
          <p:nvPr/>
        </p:nvSpPr>
        <p:spPr>
          <a:xfrm>
            <a:off x="5316061" y="3944621"/>
            <a:ext cx="1254998" cy="408940"/>
          </a:xfrm>
          <a:custGeom>
            <a:avLst/>
            <a:gdLst/>
            <a:ahLst/>
            <a:cxnLst/>
            <a:rect l="l" t="t" r="r" b="b"/>
            <a:pathLst>
              <a:path w="1254998" h="408940">
                <a:moveTo>
                  <a:pt x="63500" y="408940"/>
                </a:moveTo>
                <a:lnTo>
                  <a:pt x="63500" y="408940"/>
                </a:lnTo>
                <a:arcTo wR="63500" hR="63500" stAng="5400000" swAng="5400000"/>
                <a:lnTo>
                  <a:pt x="0" y="63500"/>
                </a:lnTo>
                <a:arcTo wR="63500" hR="63500" stAng="10800000" swAng="5400000"/>
                <a:lnTo>
                  <a:pt x="63500" y="0"/>
                </a:lnTo>
                <a:arcTo wR="12700" hR="63500" stAng="16200000" swAng="-5400000"/>
                <a:lnTo>
                  <a:pt x="50800" y="345440"/>
                </a:lnTo>
                <a:arcTo wR="12700" hR="63500" stAng="10800000" swAng="-5400000"/>
                <a:close/>
              </a:path>
            </a:pathLst>
          </a:custGeom>
          <a:solidFill>
            <a:srgbClr val="1E9E1E"/>
          </a:solidFill>
          <a:ln/>
        </p:spPr>
      </p:sp>
      <p:sp>
        <p:nvSpPr>
          <p:cNvPr id="24" name="Text 20"/>
          <p:cNvSpPr/>
          <p:nvPr/>
        </p:nvSpPr>
        <p:spPr>
          <a:xfrm>
            <a:off x="6698059" y="3944621"/>
            <a:ext cx="2381171" cy="408940"/>
          </a:xfrm>
          <a:prstGeom prst="roundRect">
            <a:avLst>
              <a:gd name="adj" fmla="val 15528"/>
            </a:avLst>
          </a:prstGeom>
          <a:solidFill>
            <a:srgbClr val="FDFDFB"/>
          </a:solidFill>
          <a:ln/>
        </p:spPr>
        <p:txBody>
          <a:bodyPr wrap="none" lIns="0" tIns="0" rIns="121101" bIns="0" rtlCol="0" anchor="ctr">
            <a:normAutofit/>
          </a:bodyPr>
          <a:lstStyle/>
          <a:p>
            <a:pPr marL="0" indent="0" algn="r">
              <a:lnSpc>
                <a:spcPts val="1820"/>
              </a:lnSpc>
              <a:buNone/>
            </a:pPr>
            <a:r>
              <a:rPr lang="en-US" sz="1300" b="1" dirty="0">
                <a:solidFill>
                  <a:srgbClr val="14213D"/>
                </a:solidFill>
                <a:latin typeface="DM Sans" pitchFamily="34" charset="0"/>
                <a:ea typeface="DM Sans" pitchFamily="34" charset="-122"/>
                <a:cs typeface="DM Sans" pitchFamily="34" charset="-120"/>
              </a:rPr>
              <a:t>reference_range</a:t>
            </a:r>
            <a:r>
              <a:rPr lang="en-US" sz="1300" dirty="0">
                <a:solidFill>
                  <a:srgbClr val="14213D"/>
                </a:solidFill>
                <a:latin typeface="DM Sans" pitchFamily="34" charset="0"/>
                <a:ea typeface="DM Sans" pitchFamily="34" charset="-122"/>
                <a:cs typeface="DM Sans" pitchFamily="34" charset="-120"/>
              </a:rPr>
              <a:t> · 0.3-5.5</a:t>
            </a:r>
            <a:endParaRPr lang="en-US" sz="1300" dirty="0"/>
          </a:p>
        </p:txBody>
      </p:sp>
      <p:sp>
        <p:nvSpPr>
          <p:cNvPr id="25" name="Shape 21"/>
          <p:cNvSpPr/>
          <p:nvPr/>
        </p:nvSpPr>
        <p:spPr>
          <a:xfrm>
            <a:off x="6698059" y="3944621"/>
            <a:ext cx="2381171" cy="408940"/>
          </a:xfrm>
          <a:custGeom>
            <a:avLst/>
            <a:gdLst/>
            <a:ahLst/>
            <a:cxnLst/>
            <a:rect l="l" t="t" r="r" b="b"/>
            <a:pathLst>
              <a:path w="2381171" h="408940">
                <a:moveTo>
                  <a:pt x="63500" y="408940"/>
                </a:moveTo>
                <a:lnTo>
                  <a:pt x="63500" y="408940"/>
                </a:lnTo>
                <a:arcTo wR="63500" hR="63500" stAng="5400000" swAng="5400000"/>
                <a:lnTo>
                  <a:pt x="0" y="63500"/>
                </a:lnTo>
                <a:arcTo wR="63500" hR="63500" stAng="10800000" swAng="5400000"/>
                <a:lnTo>
                  <a:pt x="63500" y="0"/>
                </a:lnTo>
                <a:arcTo wR="12700" hR="63500" stAng="16200000" swAng="-5400000"/>
                <a:lnTo>
                  <a:pt x="50800" y="345440"/>
                </a:lnTo>
                <a:arcTo wR="12700" hR="63500" stAng="10800000" swAng="-5400000"/>
                <a:close/>
              </a:path>
            </a:pathLst>
          </a:custGeom>
          <a:solidFill>
            <a:srgbClr val="AA28B4"/>
          </a:solidFill>
          <a:ln/>
        </p:spPr>
      </p:sp>
      <p:sp>
        <p:nvSpPr>
          <p:cNvPr id="26" name="Text 22"/>
          <p:cNvSpPr/>
          <p:nvPr/>
        </p:nvSpPr>
        <p:spPr>
          <a:xfrm>
            <a:off x="812800" y="6238239"/>
            <a:ext cx="29727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6"/>
                </a:solidFill>
                <a:latin typeface="DM Sans" pitchFamily="34" charset="0"/>
                <a:ea typeface="DM Sans" pitchFamily="34" charset="-122"/>
                <a:cs typeface="DM Sans" pitchFamily="34" charset="-120"/>
              </a:rPr>
              <a:t>Lab Report OCR · YOLO + Tesseract</a:t>
            </a:r>
            <a:endParaRPr lang="en-US" sz="1200" dirty="0"/>
          </a:p>
        </p:txBody>
      </p:sp>
      <p:sp>
        <p:nvSpPr>
          <p:cNvPr id="27" name="Text 23"/>
          <p:cNvSpPr/>
          <p:nvPr/>
        </p:nvSpPr>
        <p:spPr>
          <a:xfrm>
            <a:off x="11232674" y="6238239"/>
            <a:ext cx="14652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86"/>
                </a:solidFill>
                <a:latin typeface="DM Sans" pitchFamily="34" charset="0"/>
                <a:ea typeface="DM Sans" pitchFamily="34" charset="-122"/>
                <a:cs typeface="DM Sans" pitchFamily="34" charset="-120"/>
              </a:rPr>
              <a:t>6</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7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71A"/>
                </a:solidFill>
                <a:latin typeface="DM Sans" pitchFamily="34" charset="0"/>
                <a:ea typeface="DM Sans" pitchFamily="34" charset="-122"/>
                <a:cs typeface="DM Sans" pitchFamily="34" charset="-120"/>
              </a:rPr>
              <a:t>HOW IT WAS BUILT · PIPELINE</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Six stages from page to spreadsheet</a:t>
            </a:r>
            <a:endParaRPr lang="en-US" sz="3200" dirty="0"/>
          </a:p>
        </p:txBody>
      </p:sp>
      <p:sp>
        <p:nvSpPr>
          <p:cNvPr id="4" name="Shape 2"/>
          <p:cNvSpPr/>
          <p:nvPr/>
        </p:nvSpPr>
        <p:spPr>
          <a:xfrm>
            <a:off x="812800" y="1879600"/>
            <a:ext cx="1648460" cy="1402080"/>
          </a:xfrm>
          <a:prstGeom prst="roundRect">
            <a:avLst>
              <a:gd name="adj" fmla="val 7246"/>
            </a:avLst>
          </a:prstGeom>
          <a:solidFill>
            <a:srgbClr val="14213D"/>
          </a:solidFill>
          <a:ln/>
        </p:spPr>
      </p:sp>
      <p:sp>
        <p:nvSpPr>
          <p:cNvPr id="5" name="Text 3"/>
          <p:cNvSpPr/>
          <p:nvPr/>
        </p:nvSpPr>
        <p:spPr>
          <a:xfrm>
            <a:off x="990600" y="2057400"/>
            <a:ext cx="13436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060"/>
                </a:solidFill>
                <a:latin typeface="DM Sans" pitchFamily="34" charset="0"/>
                <a:ea typeface="DM Sans" pitchFamily="34" charset="-122"/>
                <a:cs typeface="DM Sans" pitchFamily="34" charset="-120"/>
              </a:rPr>
              <a:t>1</a:t>
            </a:r>
            <a:endParaRPr lang="en-US" sz="1200" dirty="0"/>
          </a:p>
        </p:txBody>
      </p:sp>
      <p:sp>
        <p:nvSpPr>
          <p:cNvPr id="6" name="Text 4"/>
          <p:cNvSpPr/>
          <p:nvPr/>
        </p:nvSpPr>
        <p:spPr>
          <a:xfrm>
            <a:off x="990600" y="2346961"/>
            <a:ext cx="134366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7F3"/>
                </a:solidFill>
                <a:latin typeface="Space Grotesk" pitchFamily="34" charset="0"/>
                <a:ea typeface="Space Grotesk" pitchFamily="34" charset="-122"/>
                <a:cs typeface="Space Grotesk" pitchFamily="34" charset="-120"/>
              </a:rPr>
              <a:t>Detect</a:t>
            </a:r>
            <a:endParaRPr lang="en-US" sz="1600" dirty="0"/>
          </a:p>
        </p:txBody>
      </p:sp>
      <p:sp>
        <p:nvSpPr>
          <p:cNvPr id="7" name="Text 5"/>
          <p:cNvSpPr/>
          <p:nvPr/>
        </p:nvSpPr>
        <p:spPr>
          <a:xfrm>
            <a:off x="990600" y="2667000"/>
            <a:ext cx="134366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4D6"/>
                </a:solidFill>
                <a:latin typeface="DM Sans" pitchFamily="34" charset="0"/>
                <a:ea typeface="DM Sans" pitchFamily="34" charset="-122"/>
                <a:cs typeface="DM Sans" pitchFamily="34" charset="-120"/>
              </a:rPr>
              <a:t>YOLO boxes the 4 field types</a:t>
            </a:r>
            <a:endParaRPr lang="en-US" sz="1200" dirty="0"/>
          </a:p>
        </p:txBody>
      </p:sp>
      <p:sp>
        <p:nvSpPr>
          <p:cNvPr id="8" name="Shape 6"/>
          <p:cNvSpPr/>
          <p:nvPr/>
        </p:nvSpPr>
        <p:spPr>
          <a:xfrm>
            <a:off x="2591435" y="1882775"/>
            <a:ext cx="1652270" cy="1395730"/>
          </a:xfrm>
          <a:prstGeom prst="roundRect">
            <a:avLst>
              <a:gd name="adj" fmla="val 7052"/>
            </a:avLst>
          </a:prstGeom>
          <a:solidFill>
            <a:srgbClr val="FDFDFB"/>
          </a:solidFill>
          <a:ln w="6350">
            <a:solidFill>
              <a:srgbClr val="DCE1E8"/>
            </a:solidFill>
            <a:prstDash val="solid"/>
          </a:ln>
        </p:spPr>
      </p:sp>
      <p:sp>
        <p:nvSpPr>
          <p:cNvPr id="9" name="Text 7"/>
          <p:cNvSpPr/>
          <p:nvPr/>
        </p:nvSpPr>
        <p:spPr>
          <a:xfrm>
            <a:off x="2771140" y="2062482"/>
            <a:ext cx="13436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BDB"/>
                </a:solidFill>
                <a:latin typeface="DM Sans" pitchFamily="34" charset="0"/>
                <a:ea typeface="DM Sans" pitchFamily="34" charset="-122"/>
                <a:cs typeface="DM Sans" pitchFamily="34" charset="-120"/>
              </a:rPr>
              <a:t>2</a:t>
            </a:r>
            <a:endParaRPr lang="en-US" sz="1200" dirty="0"/>
          </a:p>
        </p:txBody>
      </p:sp>
      <p:sp>
        <p:nvSpPr>
          <p:cNvPr id="10" name="Text 8"/>
          <p:cNvSpPr/>
          <p:nvPr/>
        </p:nvSpPr>
        <p:spPr>
          <a:xfrm>
            <a:off x="2771140" y="2352039"/>
            <a:ext cx="134366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Crop</a:t>
            </a:r>
            <a:endParaRPr lang="en-US" sz="1600" dirty="0"/>
          </a:p>
        </p:txBody>
      </p:sp>
      <p:sp>
        <p:nvSpPr>
          <p:cNvPr id="11" name="Text 9"/>
          <p:cNvSpPr/>
          <p:nvPr/>
        </p:nvSpPr>
        <p:spPr>
          <a:xfrm>
            <a:off x="2771140" y="2672082"/>
            <a:ext cx="134366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each box cut out into a list</a:t>
            </a:r>
            <a:endParaRPr lang="en-US" sz="1200" dirty="0"/>
          </a:p>
        </p:txBody>
      </p:sp>
      <p:sp>
        <p:nvSpPr>
          <p:cNvPr id="12" name="Shape 10"/>
          <p:cNvSpPr/>
          <p:nvPr/>
        </p:nvSpPr>
        <p:spPr>
          <a:xfrm>
            <a:off x="4377055" y="1882775"/>
            <a:ext cx="1652270" cy="1395730"/>
          </a:xfrm>
          <a:prstGeom prst="roundRect">
            <a:avLst>
              <a:gd name="adj" fmla="val 7052"/>
            </a:avLst>
          </a:prstGeom>
          <a:solidFill>
            <a:srgbClr val="FDFDFB"/>
          </a:solidFill>
          <a:ln w="6350">
            <a:solidFill>
              <a:srgbClr val="DCE1E8"/>
            </a:solidFill>
            <a:prstDash val="solid"/>
          </a:ln>
        </p:spPr>
      </p:sp>
      <p:sp>
        <p:nvSpPr>
          <p:cNvPr id="13" name="Text 11"/>
          <p:cNvSpPr/>
          <p:nvPr/>
        </p:nvSpPr>
        <p:spPr>
          <a:xfrm>
            <a:off x="4556760" y="2062482"/>
            <a:ext cx="13436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BDB"/>
                </a:solidFill>
                <a:latin typeface="DM Sans" pitchFamily="34" charset="0"/>
                <a:ea typeface="DM Sans" pitchFamily="34" charset="-122"/>
                <a:cs typeface="DM Sans" pitchFamily="34" charset="-120"/>
              </a:rPr>
              <a:t>3</a:t>
            </a:r>
            <a:endParaRPr lang="en-US" sz="1200" dirty="0"/>
          </a:p>
        </p:txBody>
      </p:sp>
      <p:sp>
        <p:nvSpPr>
          <p:cNvPr id="14" name="Text 12"/>
          <p:cNvSpPr/>
          <p:nvPr/>
        </p:nvSpPr>
        <p:spPr>
          <a:xfrm>
            <a:off x="4556760" y="2352039"/>
            <a:ext cx="134366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Preprocess</a:t>
            </a:r>
            <a:endParaRPr lang="en-US" sz="1600" dirty="0"/>
          </a:p>
        </p:txBody>
      </p:sp>
      <p:sp>
        <p:nvSpPr>
          <p:cNvPr id="15" name="Text 13"/>
          <p:cNvSpPr/>
          <p:nvPr/>
        </p:nvSpPr>
        <p:spPr>
          <a:xfrm>
            <a:off x="4556760" y="2672082"/>
            <a:ext cx="134366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3× resize, gray, Otsu, invert</a:t>
            </a:r>
            <a:endParaRPr lang="en-US" sz="1200" dirty="0"/>
          </a:p>
        </p:txBody>
      </p:sp>
      <p:sp>
        <p:nvSpPr>
          <p:cNvPr id="16" name="Shape 14"/>
          <p:cNvSpPr/>
          <p:nvPr/>
        </p:nvSpPr>
        <p:spPr>
          <a:xfrm>
            <a:off x="6159500" y="1879600"/>
            <a:ext cx="1648460" cy="1402080"/>
          </a:xfrm>
          <a:prstGeom prst="roundRect">
            <a:avLst>
              <a:gd name="adj" fmla="val 7246"/>
            </a:avLst>
          </a:prstGeom>
          <a:solidFill>
            <a:srgbClr val="14213D"/>
          </a:solidFill>
          <a:ln/>
        </p:spPr>
      </p:sp>
      <p:sp>
        <p:nvSpPr>
          <p:cNvPr id="17" name="Text 15"/>
          <p:cNvSpPr/>
          <p:nvPr/>
        </p:nvSpPr>
        <p:spPr>
          <a:xfrm>
            <a:off x="6337300" y="2057400"/>
            <a:ext cx="13436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F0A060"/>
                </a:solidFill>
                <a:latin typeface="DM Sans" pitchFamily="34" charset="0"/>
                <a:ea typeface="DM Sans" pitchFamily="34" charset="-122"/>
                <a:cs typeface="DM Sans" pitchFamily="34" charset="-120"/>
              </a:rPr>
              <a:t>4</a:t>
            </a:r>
            <a:endParaRPr lang="en-US" sz="1200" dirty="0"/>
          </a:p>
        </p:txBody>
      </p:sp>
      <p:sp>
        <p:nvSpPr>
          <p:cNvPr id="18" name="Text 16"/>
          <p:cNvSpPr/>
          <p:nvPr/>
        </p:nvSpPr>
        <p:spPr>
          <a:xfrm>
            <a:off x="6337300" y="2346961"/>
            <a:ext cx="134366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7F7F3"/>
                </a:solidFill>
                <a:latin typeface="Space Grotesk" pitchFamily="34" charset="0"/>
                <a:ea typeface="Space Grotesk" pitchFamily="34" charset="-122"/>
                <a:cs typeface="Space Grotesk" pitchFamily="34" charset="-120"/>
              </a:rPr>
              <a:t>Read</a:t>
            </a:r>
            <a:endParaRPr lang="en-US" sz="1600" dirty="0"/>
          </a:p>
        </p:txBody>
      </p:sp>
      <p:sp>
        <p:nvSpPr>
          <p:cNvPr id="19" name="Text 17"/>
          <p:cNvSpPr/>
          <p:nvPr/>
        </p:nvSpPr>
        <p:spPr>
          <a:xfrm>
            <a:off x="6337300" y="2667000"/>
            <a:ext cx="134366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B9C4D6"/>
                </a:solidFill>
                <a:latin typeface="DM Sans" pitchFamily="34" charset="0"/>
                <a:ea typeface="DM Sans" pitchFamily="34" charset="-122"/>
                <a:cs typeface="DM Sans" pitchFamily="34" charset="-120"/>
              </a:rPr>
              <a:t>Tesseract, or the PDF’s own text</a:t>
            </a:r>
            <a:endParaRPr lang="en-US" sz="1200" dirty="0"/>
          </a:p>
        </p:txBody>
      </p:sp>
      <p:sp>
        <p:nvSpPr>
          <p:cNvPr id="20" name="Shape 18"/>
          <p:cNvSpPr/>
          <p:nvPr/>
        </p:nvSpPr>
        <p:spPr>
          <a:xfrm>
            <a:off x="7938135" y="1882775"/>
            <a:ext cx="1652270" cy="1395730"/>
          </a:xfrm>
          <a:prstGeom prst="roundRect">
            <a:avLst>
              <a:gd name="adj" fmla="val 7052"/>
            </a:avLst>
          </a:prstGeom>
          <a:solidFill>
            <a:srgbClr val="FDFDFB"/>
          </a:solidFill>
          <a:ln w="6350">
            <a:solidFill>
              <a:srgbClr val="DCE1E8"/>
            </a:solidFill>
            <a:prstDash val="solid"/>
          </a:ln>
        </p:spPr>
      </p:sp>
      <p:sp>
        <p:nvSpPr>
          <p:cNvPr id="21" name="Text 19"/>
          <p:cNvSpPr/>
          <p:nvPr/>
        </p:nvSpPr>
        <p:spPr>
          <a:xfrm>
            <a:off x="8117840" y="2062482"/>
            <a:ext cx="13436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BDB"/>
                </a:solidFill>
                <a:latin typeface="DM Sans" pitchFamily="34" charset="0"/>
                <a:ea typeface="DM Sans" pitchFamily="34" charset="-122"/>
                <a:cs typeface="DM Sans" pitchFamily="34" charset="-120"/>
              </a:rPr>
              <a:t>5</a:t>
            </a:r>
            <a:endParaRPr lang="en-US" sz="1200" dirty="0"/>
          </a:p>
        </p:txBody>
      </p:sp>
      <p:sp>
        <p:nvSpPr>
          <p:cNvPr id="22" name="Text 20"/>
          <p:cNvSpPr/>
          <p:nvPr/>
        </p:nvSpPr>
        <p:spPr>
          <a:xfrm>
            <a:off x="8117840" y="2352039"/>
            <a:ext cx="134366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Assemble</a:t>
            </a:r>
            <a:endParaRPr lang="en-US" sz="1600" dirty="0"/>
          </a:p>
        </p:txBody>
      </p:sp>
      <p:sp>
        <p:nvSpPr>
          <p:cNvPr id="23" name="Text 21"/>
          <p:cNvSpPr/>
          <p:nvPr/>
        </p:nvSpPr>
        <p:spPr>
          <a:xfrm>
            <a:off x="8117840" y="2672082"/>
            <a:ext cx="134366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tilt-aware row matching</a:t>
            </a:r>
            <a:endParaRPr lang="en-US" sz="1200" dirty="0"/>
          </a:p>
        </p:txBody>
      </p:sp>
      <p:sp>
        <p:nvSpPr>
          <p:cNvPr id="24" name="Shape 22"/>
          <p:cNvSpPr/>
          <p:nvPr/>
        </p:nvSpPr>
        <p:spPr>
          <a:xfrm>
            <a:off x="9723755" y="1882775"/>
            <a:ext cx="1652270" cy="1395730"/>
          </a:xfrm>
          <a:prstGeom prst="roundRect">
            <a:avLst>
              <a:gd name="adj" fmla="val 7052"/>
            </a:avLst>
          </a:prstGeom>
          <a:solidFill>
            <a:srgbClr val="FDFDFB"/>
          </a:solidFill>
          <a:ln w="6350">
            <a:solidFill>
              <a:srgbClr val="DCE1E8"/>
            </a:solidFill>
            <a:prstDash val="solid"/>
          </a:ln>
        </p:spPr>
      </p:sp>
      <p:sp>
        <p:nvSpPr>
          <p:cNvPr id="25" name="Text 23"/>
          <p:cNvSpPr/>
          <p:nvPr/>
        </p:nvSpPr>
        <p:spPr>
          <a:xfrm>
            <a:off x="9903460" y="2062482"/>
            <a:ext cx="1343660" cy="238760"/>
          </a:xfrm>
          <a:prstGeom prst="rect">
            <a:avLst/>
          </a:prstGeom>
          <a:noFill/>
          <a:ln/>
        </p:spPr>
        <p:txBody>
          <a:bodyPr wrap="square" lIns="0" tIns="0" rIns="0" bIns="0" rtlCol="0" anchor="t">
            <a:normAutofit/>
          </a:bodyPr>
          <a:lstStyle/>
          <a:p>
            <a:pPr marL="0" indent="0" algn="l">
              <a:lnSpc>
                <a:spcPts val="1680"/>
              </a:lnSpc>
              <a:buNone/>
            </a:pPr>
            <a:r>
              <a:rPr lang="en-US" sz="1200" b="1" dirty="0">
                <a:solidFill>
                  <a:srgbClr val="2F6BDB"/>
                </a:solidFill>
                <a:latin typeface="DM Sans" pitchFamily="34" charset="0"/>
                <a:ea typeface="DM Sans" pitchFamily="34" charset="-122"/>
                <a:cs typeface="DM Sans" pitchFamily="34" charset="-120"/>
              </a:rPr>
              <a:t>6</a:t>
            </a:r>
            <a:endParaRPr lang="en-US" sz="1200" dirty="0"/>
          </a:p>
        </p:txBody>
      </p:sp>
      <p:sp>
        <p:nvSpPr>
          <p:cNvPr id="26" name="Text 24"/>
          <p:cNvSpPr/>
          <p:nvPr/>
        </p:nvSpPr>
        <p:spPr>
          <a:xfrm>
            <a:off x="9903460" y="2352039"/>
            <a:ext cx="1343660"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Export</a:t>
            </a:r>
            <a:endParaRPr lang="en-US" sz="1600" dirty="0"/>
          </a:p>
        </p:txBody>
      </p:sp>
      <p:sp>
        <p:nvSpPr>
          <p:cNvPr id="27" name="Text 25"/>
          <p:cNvSpPr/>
          <p:nvPr/>
        </p:nvSpPr>
        <p:spPr>
          <a:xfrm>
            <a:off x="9903460" y="2672082"/>
            <a:ext cx="1343660"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CSV / Excel + review flag</a:t>
            </a:r>
            <a:endParaRPr lang="en-US" sz="1200" dirty="0"/>
          </a:p>
        </p:txBody>
      </p:sp>
      <p:sp>
        <p:nvSpPr>
          <p:cNvPr id="28" name="Text 26"/>
          <p:cNvSpPr/>
          <p:nvPr/>
        </p:nvSpPr>
        <p:spPr>
          <a:xfrm>
            <a:off x="812800" y="3586482"/>
            <a:ext cx="10883392" cy="52324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The two dark stages are the models; the rest is deterministic code in Custom_OCR.py. A PDF is first split into pages, each rendered at the resolution the detector was trained on.</a:t>
            </a:r>
            <a:endParaRPr lang="en-US" sz="1400" dirty="0"/>
          </a:p>
        </p:txBody>
      </p:sp>
      <p:sp>
        <p:nvSpPr>
          <p:cNvPr id="29" name="Text 27"/>
          <p:cNvSpPr/>
          <p:nvPr/>
        </p:nvSpPr>
        <p:spPr>
          <a:xfrm>
            <a:off x="812800" y="4211321"/>
            <a:ext cx="10566400" cy="502920"/>
          </a:xfrm>
          <a:prstGeom prst="roundRect">
            <a:avLst>
              <a:gd name="adj" fmla="val 15152"/>
            </a:avLst>
          </a:prstGeom>
          <a:solidFill>
            <a:srgbClr val="14213D"/>
          </a:solidFill>
          <a:ln/>
        </p:spPr>
        <p:txBody>
          <a:bodyPr wrap="square" lIns="155482" tIns="104682" rIns="0" bIns="79282" rtlCol="0" anchor="t">
            <a:normAutofit/>
          </a:bodyPr>
          <a:lstStyle/>
          <a:p>
            <a:pPr marL="0" indent="0" algn="l">
              <a:lnSpc>
                <a:spcPts val="1960"/>
              </a:lnSpc>
              <a:buNone/>
            </a:pPr>
            <a:r>
              <a:rPr lang="en-US" sz="1400" dirty="0">
                <a:solidFill>
                  <a:srgbClr val="F7F7F3"/>
                </a:solidFill>
                <a:latin typeface="JetBrains Mono" pitchFamily="49" charset="0"/>
                <a:ea typeface="JetBrains Mono" pitchFamily="49" charset="-122"/>
                <a:cs typeface="JetBrains Mono" pitchFamily="49" charset="-120"/>
              </a:rPr>
              <a:t>python Custom_OCR.py --image report.pdf --excel</a:t>
            </a:r>
            <a:endParaRPr lang="en-US" sz="1400" dirty="0"/>
          </a:p>
        </p:txBody>
      </p:sp>
      <p:sp>
        <p:nvSpPr>
          <p:cNvPr id="30" name="Text 28"/>
          <p:cNvSpPr/>
          <p:nvPr/>
        </p:nvSpPr>
        <p:spPr>
          <a:xfrm>
            <a:off x="812800" y="6238239"/>
            <a:ext cx="29727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6"/>
                </a:solidFill>
                <a:latin typeface="DM Sans" pitchFamily="34" charset="0"/>
                <a:ea typeface="DM Sans" pitchFamily="34" charset="-122"/>
                <a:cs typeface="DM Sans" pitchFamily="34" charset="-120"/>
              </a:rPr>
              <a:t>Lab Report OCR · YOLO + Tesseract</a:t>
            </a:r>
            <a:endParaRPr lang="en-US" sz="1200" dirty="0"/>
          </a:p>
        </p:txBody>
      </p:sp>
      <p:sp>
        <p:nvSpPr>
          <p:cNvPr id="31" name="Text 29"/>
          <p:cNvSpPr/>
          <p:nvPr/>
        </p:nvSpPr>
        <p:spPr>
          <a:xfrm>
            <a:off x="11246962" y="6238239"/>
            <a:ext cx="132239"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86"/>
                </a:solidFill>
                <a:latin typeface="DM Sans" pitchFamily="34" charset="0"/>
                <a:ea typeface="DM Sans" pitchFamily="34" charset="-122"/>
                <a:cs typeface="DM Sans" pitchFamily="34" charset="-120"/>
              </a:rPr>
              <a:t>7</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7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71A"/>
                </a:solidFill>
                <a:latin typeface="DM Sans" pitchFamily="34" charset="0"/>
                <a:ea typeface="DM Sans" pitchFamily="34" charset="-122"/>
                <a:cs typeface="DM Sans" pitchFamily="34" charset="-120"/>
              </a:rPr>
              <a:t>HOW IT WAS BUILT · PREPROCESSING</a:t>
            </a:r>
            <a:endParaRPr lang="en-US" sz="1200" dirty="0"/>
          </a:p>
        </p:txBody>
      </p:sp>
      <p:sp>
        <p:nvSpPr>
          <p:cNvPr id="3" name="Text 1"/>
          <p:cNvSpPr>
            <a:spLocks noGrp="1"/>
          </p:cNvSpPr>
          <p:nvPr>
            <p:ph type="title"/>
          </p:nvPr>
        </p:nvSpPr>
        <p:spPr>
          <a:xfrm>
            <a:off x="812800" y="1127761"/>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The brief’s steps, then tuned one knob at a time</a:t>
            </a:r>
            <a:endParaRPr lang="en-US" sz="3200" dirty="0"/>
          </a:p>
        </p:txBody>
      </p:sp>
      <p:sp>
        <p:nvSpPr>
          <p:cNvPr id="4" name="Shape 2"/>
          <p:cNvSpPr/>
          <p:nvPr/>
        </p:nvSpPr>
        <p:spPr>
          <a:xfrm>
            <a:off x="812800" y="1828800"/>
            <a:ext cx="10566400" cy="933450"/>
          </a:xfrm>
          <a:prstGeom prst="roundRect">
            <a:avLst>
              <a:gd name="adj" fmla="val 8163"/>
            </a:avLst>
          </a:prstGeom>
          <a:solidFill>
            <a:srgbClr val="FDFDFB"/>
          </a:solidFill>
          <a:ln/>
        </p:spPr>
      </p:sp>
      <p:pic>
        <p:nvPicPr>
          <p:cNvPr id="5" name="Image 0" descr="Six steps on a value crop reading 2.14: crop, resize 3x, grayscale, Gaussian blur, inverted Otsu threshold, bitwise_not"/>
          <p:cNvPicPr>
            <a:picLocks noChangeAspect="1"/>
          </p:cNvPicPr>
          <p:nvPr/>
        </p:nvPicPr>
        <p:blipFill>
          <a:blip r:embed="rId3"/>
          <a:srcRect l="-85" r="-85"/>
          <a:stretch/>
        </p:blipFill>
        <p:spPr>
          <a:xfrm>
            <a:off x="812800" y="1828800"/>
            <a:ext cx="10566400" cy="933450"/>
          </a:xfrm>
          <a:prstGeom prst="roundRect">
            <a:avLst>
              <a:gd name="adj" fmla="val 8163"/>
            </a:avLst>
          </a:prstGeom>
        </p:spPr>
      </p:pic>
      <p:sp>
        <p:nvSpPr>
          <p:cNvPr id="6" name="Shape 3"/>
          <p:cNvSpPr/>
          <p:nvPr/>
        </p:nvSpPr>
        <p:spPr>
          <a:xfrm>
            <a:off x="815975" y="3019425"/>
            <a:ext cx="5175250" cy="1687830"/>
          </a:xfrm>
          <a:prstGeom prst="roundRect">
            <a:avLst>
              <a:gd name="adj" fmla="val 5831"/>
            </a:avLst>
          </a:prstGeom>
          <a:solidFill>
            <a:srgbClr val="FDFDFB"/>
          </a:solidFill>
          <a:ln w="6350">
            <a:solidFill>
              <a:srgbClr val="DCE1E8"/>
            </a:solidFill>
            <a:prstDash val="solid"/>
          </a:ln>
        </p:spPr>
      </p:sp>
      <p:sp>
        <p:nvSpPr>
          <p:cNvPr id="7" name="Text 4"/>
          <p:cNvSpPr/>
          <p:nvPr/>
        </p:nvSpPr>
        <p:spPr>
          <a:xfrm>
            <a:off x="1046480" y="3224532"/>
            <a:ext cx="485566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Kept from tuning</a:t>
            </a:r>
            <a:endParaRPr lang="en-US" sz="1600" dirty="0"/>
          </a:p>
        </p:txBody>
      </p:sp>
      <p:sp>
        <p:nvSpPr>
          <p:cNvPr id="8" name="Text 5"/>
          <p:cNvSpPr/>
          <p:nvPr/>
        </p:nvSpPr>
        <p:spPr>
          <a:xfrm>
            <a:off x="1138174" y="3544571"/>
            <a:ext cx="4756353" cy="982980"/>
          </a:xfrm>
          <a:prstGeom prst="rect">
            <a:avLst/>
          </a:prstGeom>
          <a:noFill/>
          <a:ln/>
        </p:spPr>
        <p:txBody>
          <a:bodyPr wrap="square" lIns="0" tIns="0" rIns="0" bIns="0" rtlCol="0" anchor="t">
            <a:normAutofit/>
          </a:bodyPr>
          <a:lstStyle/>
          <a:p>
            <a:pPr marL="162306" indent="-162306" algn="l">
              <a:lnSpc>
                <a:spcPts val="1885"/>
              </a:lnSpc>
              <a:buSzPct val="100000"/>
              <a:buChar char="•"/>
            </a:pPr>
            <a:r>
              <a:rPr lang="en-US" sz="1300" dirty="0">
                <a:solidFill>
                  <a:srgbClr val="4A5568"/>
                </a:solidFill>
                <a:latin typeface="DM Sans" pitchFamily="34" charset="0"/>
                <a:ea typeface="DM Sans" pitchFamily="34" charset="-122"/>
                <a:cs typeface="DM Sans" pitchFamily="34" charset="-120"/>
              </a:rPr>
              <a:t>No blur: it smears 3×-upscaled small print</a:t>
            </a:r>
            <a:endParaRPr lang="en-US" sz="1300" dirty="0"/>
          </a:p>
          <a:p>
            <a:pPr marL="162306" indent="-162306" algn="l">
              <a:lnSpc>
                <a:spcPts val="1885"/>
              </a:lnSpc>
              <a:buSzPct val="100000"/>
              <a:buChar char="•"/>
            </a:pPr>
            <a:r>
              <a:rPr lang="en-US" sz="1300" dirty="0">
                <a:solidFill>
                  <a:srgbClr val="4A5568"/>
                </a:solidFill>
                <a:latin typeface="DM Sans" pitchFamily="34" charset="0"/>
                <a:ea typeface="DM Sans" pitchFamily="34" charset="-122"/>
                <a:cs typeface="DM Sans" pitchFamily="34" charset="-120"/>
              </a:rPr>
              <a:t>10 px white border and a 1 px crop margin</a:t>
            </a:r>
            <a:endParaRPr lang="en-US" sz="1300" dirty="0"/>
          </a:p>
          <a:p>
            <a:pPr marL="162306" indent="-162306" algn="l">
              <a:lnSpc>
                <a:spcPts val="1885"/>
              </a:lnSpc>
              <a:buSzPct val="100000"/>
              <a:buChar char="•"/>
            </a:pPr>
            <a:r>
              <a:rPr lang="en-US" sz="1300" dirty="0">
                <a:solidFill>
                  <a:srgbClr val="4A5568"/>
                </a:solidFill>
                <a:latin typeface="DM Sans" pitchFamily="34" charset="0"/>
                <a:ea typeface="DM Sans" pitchFamily="34" charset="-122"/>
                <a:cs typeface="DM Sans" pitchFamily="34" charset="-120"/>
              </a:rPr>
              <a:t>Digits-only character list for values</a:t>
            </a:r>
            <a:endParaRPr lang="en-US" sz="1300" dirty="0"/>
          </a:p>
          <a:p>
            <a:pPr marL="162306" indent="-162306" algn="l">
              <a:lnSpc>
                <a:spcPts val="1885"/>
              </a:lnSpc>
              <a:buSzPct val="100000"/>
              <a:buChar char="•"/>
            </a:pPr>
            <a:r>
              <a:rPr lang="en-US" sz="1300" dirty="0">
                <a:solidFill>
                  <a:srgbClr val="4A5568"/>
                </a:solidFill>
                <a:latin typeface="DM Sans" pitchFamily="34" charset="0"/>
                <a:ea typeface="DM Sans" pitchFamily="34" charset="-122"/>
                <a:cs typeface="DM Sans" pitchFamily="34" charset="-120"/>
              </a:rPr>
              <a:t>Clinical-unit lexicon fixes “dl” read as “di”</a:t>
            </a:r>
            <a:endParaRPr lang="en-US" sz="1300" dirty="0"/>
          </a:p>
        </p:txBody>
      </p:sp>
      <p:sp>
        <p:nvSpPr>
          <p:cNvPr id="9" name="Shape 6"/>
          <p:cNvSpPr/>
          <p:nvPr/>
        </p:nvSpPr>
        <p:spPr>
          <a:xfrm>
            <a:off x="6200775" y="3019425"/>
            <a:ext cx="5175250" cy="1687830"/>
          </a:xfrm>
          <a:prstGeom prst="roundRect">
            <a:avLst>
              <a:gd name="adj" fmla="val 5831"/>
            </a:avLst>
          </a:prstGeom>
          <a:solidFill>
            <a:srgbClr val="FDFDFB"/>
          </a:solidFill>
          <a:ln w="6350">
            <a:solidFill>
              <a:srgbClr val="DCE1E8"/>
            </a:solidFill>
            <a:prstDash val="solid"/>
          </a:ln>
        </p:spPr>
      </p:sp>
      <p:sp>
        <p:nvSpPr>
          <p:cNvPr id="10" name="Text 7"/>
          <p:cNvSpPr/>
          <p:nvPr/>
        </p:nvSpPr>
        <p:spPr>
          <a:xfrm>
            <a:off x="6431280" y="3224532"/>
            <a:ext cx="4855667"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What the tests showed</a:t>
            </a:r>
            <a:endParaRPr lang="en-US" sz="1600" dirty="0"/>
          </a:p>
        </p:txBody>
      </p:sp>
      <p:sp>
        <p:nvSpPr>
          <p:cNvPr id="11" name="Text 8"/>
          <p:cNvSpPr/>
          <p:nvPr/>
        </p:nvSpPr>
        <p:spPr>
          <a:xfrm>
            <a:off x="6522974" y="3544571"/>
            <a:ext cx="4756353" cy="982980"/>
          </a:xfrm>
          <a:prstGeom prst="rect">
            <a:avLst/>
          </a:prstGeom>
          <a:noFill/>
          <a:ln/>
        </p:spPr>
        <p:txBody>
          <a:bodyPr wrap="square" lIns="0" tIns="0" rIns="0" bIns="0" rtlCol="0" anchor="t">
            <a:normAutofit/>
          </a:bodyPr>
          <a:lstStyle/>
          <a:p>
            <a:pPr marL="162306" indent="-162306" algn="l">
              <a:lnSpc>
                <a:spcPts val="1885"/>
              </a:lnSpc>
              <a:buSzPct val="100000"/>
              <a:buChar char="•"/>
            </a:pPr>
            <a:r>
              <a:rPr lang="en-US" sz="1300" dirty="0">
                <a:solidFill>
                  <a:srgbClr val="4A5568"/>
                </a:solidFill>
                <a:latin typeface="DM Sans" pitchFamily="34" charset="0"/>
                <a:ea typeface="DM Sans" pitchFamily="34" charset="-122"/>
                <a:cs typeface="DM Sans" pitchFamily="34" charset="-120"/>
              </a:rPr>
              <a:t>Brief recipe 67.9% → tuned 72.3% exact</a:t>
            </a:r>
            <a:endParaRPr lang="en-US" sz="1300" dirty="0"/>
          </a:p>
          <a:p>
            <a:pPr marL="162306" indent="-162306" algn="l">
              <a:lnSpc>
                <a:spcPts val="1885"/>
              </a:lnSpc>
              <a:buSzPct val="100000"/>
              <a:buChar char="•"/>
            </a:pPr>
            <a:r>
              <a:rPr lang="en-US" sz="1300" dirty="0">
                <a:solidFill>
                  <a:srgbClr val="4A5568"/>
                </a:solidFill>
                <a:latin typeface="DM Sans" pitchFamily="34" charset="0"/>
                <a:ea typeface="DM Sans" pitchFamily="34" charset="-122"/>
                <a:cs typeface="DM Sans" pitchFamily="34" charset="-120"/>
              </a:rPr>
              <a:t>Without Otsu thresholding: 31%</a:t>
            </a:r>
            <a:endParaRPr lang="en-US" sz="1300" dirty="0"/>
          </a:p>
          <a:p>
            <a:pPr marL="162306" indent="-162306" algn="l">
              <a:lnSpc>
                <a:spcPts val="1885"/>
              </a:lnSpc>
              <a:buSzPct val="100000"/>
              <a:buChar char="•"/>
            </a:pPr>
            <a:r>
              <a:rPr lang="en-US" sz="1300" dirty="0">
                <a:solidFill>
                  <a:srgbClr val="4A5568"/>
                </a:solidFill>
                <a:latin typeface="DM Sans" pitchFamily="34" charset="0"/>
                <a:ea typeface="DM Sans" pitchFamily="34" charset="-122"/>
                <a:cs typeface="DM Sans" pitchFamily="34" charset="-120"/>
              </a:rPr>
              <a:t>Chosen on 86 training photos; test photos unseen</a:t>
            </a:r>
            <a:endParaRPr lang="en-US" sz="1300" dirty="0"/>
          </a:p>
          <a:p>
            <a:pPr marL="162306" indent="-162306" algn="l">
              <a:lnSpc>
                <a:spcPts val="1885"/>
              </a:lnSpc>
              <a:buSzPct val="100000"/>
              <a:buChar char="•"/>
            </a:pPr>
            <a:r>
              <a:rPr lang="en-US" sz="1300" dirty="0">
                <a:solidFill>
                  <a:srgbClr val="4A5568"/>
                </a:solidFill>
                <a:latin typeface="DM Sans" pitchFamily="34" charset="0"/>
                <a:ea typeface="DM Sans" pitchFamily="34" charset="-122"/>
                <a:cs typeface="DM Sans" pitchFamily="34" charset="-120"/>
              </a:rPr>
              <a:t>The brief’s recipe stays available as --mode brief</a:t>
            </a:r>
            <a:endParaRPr lang="en-US" sz="1300" dirty="0"/>
          </a:p>
        </p:txBody>
      </p:sp>
      <p:sp>
        <p:nvSpPr>
          <p:cNvPr id="12" name="Text 9"/>
          <p:cNvSpPr/>
          <p:nvPr/>
        </p:nvSpPr>
        <p:spPr>
          <a:xfrm>
            <a:off x="812800" y="6238242"/>
            <a:ext cx="29727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6"/>
                </a:solidFill>
                <a:latin typeface="DM Sans" pitchFamily="34" charset="0"/>
                <a:ea typeface="DM Sans" pitchFamily="34" charset="-122"/>
                <a:cs typeface="DM Sans" pitchFamily="34" charset="-120"/>
              </a:rPr>
              <a:t>Lab Report OCR · YOLO + Tesseract</a:t>
            </a:r>
            <a:endParaRPr lang="en-US" sz="1200" dirty="0"/>
          </a:p>
        </p:txBody>
      </p:sp>
      <p:sp>
        <p:nvSpPr>
          <p:cNvPr id="13" name="Text 10"/>
          <p:cNvSpPr/>
          <p:nvPr/>
        </p:nvSpPr>
        <p:spPr>
          <a:xfrm>
            <a:off x="11235690" y="6238242"/>
            <a:ext cx="143510"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86"/>
                </a:solidFill>
                <a:latin typeface="DM Sans" pitchFamily="34" charset="0"/>
                <a:ea typeface="DM Sans" pitchFamily="34" charset="-122"/>
                <a:cs typeface="DM Sans" pitchFamily="34" charset="-120"/>
              </a:rPr>
              <a:t>8</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7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71A"/>
                </a:solidFill>
                <a:latin typeface="DM Sans" pitchFamily="34" charset="0"/>
                <a:ea typeface="DM Sans" pitchFamily="34" charset="-122"/>
                <a:cs typeface="DM Sans" pitchFamily="34" charset="-120"/>
              </a:rPr>
              <a:t>HOW IT WAS BUILT · DETECTOR</a:t>
            </a:r>
            <a:endParaRPr lang="en-US" sz="1200" dirty="0"/>
          </a:p>
        </p:txBody>
      </p:sp>
      <p:sp>
        <p:nvSpPr>
          <p:cNvPr id="3" name="Text 1"/>
          <p:cNvSpPr>
            <a:spLocks noGrp="1"/>
          </p:cNvSpPr>
          <p:nvPr>
            <p:ph type="title"/>
          </p:nvPr>
        </p:nvSpPr>
        <p:spPr>
          <a:xfrm>
            <a:off x="812800" y="1127764"/>
            <a:ext cx="11379200"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YOLOv3, as the brief asks, against a 2026 nano model</a:t>
            </a:r>
            <a:endParaRPr lang="en-US" sz="32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822960" y="1864360"/>
          <a:ext cx="10556240" cy="1150620"/>
        </p:xfrm>
        <a:graphic>
          <a:graphicData uri="http://schemas.openxmlformats.org/drawingml/2006/table">
            <a:tbl>
              <a:tblPr/>
              <a:tblGrid>
                <a:gridCol w="2533498">
                  <a:extLst>
                    <a:ext uri="{9D8B030D-6E8A-4147-A177-3AD203B41FA5}">
                      <a16:colId xmlns:a16="http://schemas.microsoft.com/office/drawing/2014/main" val="20000"/>
                    </a:ext>
                  </a:extLst>
                </a:gridCol>
                <a:gridCol w="1266749">
                  <a:extLst>
                    <a:ext uri="{9D8B030D-6E8A-4147-A177-3AD203B41FA5}">
                      <a16:colId xmlns:a16="http://schemas.microsoft.com/office/drawing/2014/main" val="20001"/>
                    </a:ext>
                  </a:extLst>
                </a:gridCol>
                <a:gridCol w="1688998">
                  <a:extLst>
                    <a:ext uri="{9D8B030D-6E8A-4147-A177-3AD203B41FA5}">
                      <a16:colId xmlns:a16="http://schemas.microsoft.com/office/drawing/2014/main" val="20002"/>
                    </a:ext>
                  </a:extLst>
                </a:gridCol>
                <a:gridCol w="1688998">
                  <a:extLst>
                    <a:ext uri="{9D8B030D-6E8A-4147-A177-3AD203B41FA5}">
                      <a16:colId xmlns:a16="http://schemas.microsoft.com/office/drawing/2014/main" val="20003"/>
                    </a:ext>
                  </a:extLst>
                </a:gridCol>
                <a:gridCol w="1688998">
                  <a:extLst>
                    <a:ext uri="{9D8B030D-6E8A-4147-A177-3AD203B41FA5}">
                      <a16:colId xmlns:a16="http://schemas.microsoft.com/office/drawing/2014/main" val="20004"/>
                    </a:ext>
                  </a:extLst>
                </a:gridCol>
                <a:gridCol w="1688998">
                  <a:extLst>
                    <a:ext uri="{9D8B030D-6E8A-4147-A177-3AD203B41FA5}">
                      <a16:colId xmlns:a16="http://schemas.microsoft.com/office/drawing/2014/main" val="20005"/>
                    </a:ext>
                  </a:extLst>
                </a:gridCol>
              </a:tblGrid>
              <a:tr h="383540">
                <a:tc>
                  <a:txBody>
                    <a:bodyPr/>
                    <a:lstStyle/>
                    <a:p>
                      <a:pPr marL="0" indent="0">
                        <a:lnSpc>
                          <a:spcPts val="1960"/>
                        </a:lnSpc>
                        <a:buNone/>
                      </a:pPr>
                      <a:r>
                        <a:rPr lang="en-US" sz="1400" b="1" dirty="0">
                          <a:solidFill>
                            <a:srgbClr val="14213D"/>
                          </a:solidFill>
                          <a:latin typeface="DM Sans" pitchFamily="34" charset="0"/>
                          <a:ea typeface="DM Sans" pitchFamily="34" charset="-122"/>
                          <a:cs typeface="DM Sans" pitchFamily="34" charset="-120"/>
                        </a:rPr>
                        <a:t>Detector</a:t>
                      </a:r>
                      <a:endParaRPr lang="en-US" sz="1400" dirty="0">
                        <a:latin typeface="DM Sans" charset="0"/>
                        <a:ea typeface="DM Sans" charset="0"/>
                        <a:cs typeface="DM Sans" charset="0"/>
                      </a:endParaRPr>
                    </a:p>
                  </a:txBody>
                  <a:tcPr marL="62230" marR="62230" marT="62230" marB="62230">
                    <a:lnL w="12700" cap="flat" cmpd="sng" algn="ctr">
                      <a:solidFill>
                        <a:srgbClr val="C5C5C2"/>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1"/>
                    </a:solidFill>
                  </a:tcPr>
                </a:tc>
                <a:tc>
                  <a:txBody>
                    <a:bodyPr/>
                    <a:lstStyle/>
                    <a:p>
                      <a:pPr marL="0" indent="0" algn="r">
                        <a:lnSpc>
                          <a:spcPts val="1960"/>
                        </a:lnSpc>
                        <a:buNone/>
                      </a:pPr>
                      <a:r>
                        <a:rPr lang="en-US" sz="1400" b="1" dirty="0">
                          <a:solidFill>
                            <a:srgbClr val="14213D"/>
                          </a:solidFill>
                          <a:latin typeface="DM Sans" pitchFamily="34" charset="0"/>
                          <a:ea typeface="DM Sans" pitchFamily="34" charset="-122"/>
                          <a:cs typeface="DM Sans" pitchFamily="34" charset="-120"/>
                        </a:rPr>
                        <a:t>Params</a:t>
                      </a:r>
                      <a:endParaRPr lang="en-US" sz="1400" dirty="0">
                        <a:latin typeface="DM Sans" charset="0"/>
                        <a:ea typeface="DM Sans" charset="0"/>
                        <a:cs typeface="DM Sans" charset="0"/>
                      </a:endParaRPr>
                    </a:p>
                  </a:txBody>
                  <a:tcPr marL="62230" marR="62230" marT="62230" marB="62230">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1"/>
                    </a:solidFill>
                  </a:tcPr>
                </a:tc>
                <a:tc>
                  <a:txBody>
                    <a:bodyPr/>
                    <a:lstStyle/>
                    <a:p>
                      <a:pPr marL="0" indent="0" algn="r">
                        <a:lnSpc>
                          <a:spcPts val="1960"/>
                        </a:lnSpc>
                        <a:buNone/>
                      </a:pPr>
                      <a:r>
                        <a:rPr lang="en-US" sz="1400" b="1" dirty="0">
                          <a:solidFill>
                            <a:srgbClr val="14213D"/>
                          </a:solidFill>
                          <a:latin typeface="DM Sans" pitchFamily="34" charset="0"/>
                          <a:ea typeface="DM Sans" pitchFamily="34" charset="-122"/>
                          <a:cs typeface="DM Sans" pitchFamily="34" charset="-120"/>
                        </a:rPr>
                        <a:t>Val mAP .5:.95</a:t>
                      </a:r>
                      <a:endParaRPr lang="en-US" sz="1400" dirty="0">
                        <a:latin typeface="DM Sans" charset="0"/>
                        <a:ea typeface="DM Sans" charset="0"/>
                        <a:cs typeface="DM Sans" charset="0"/>
                      </a:endParaRPr>
                    </a:p>
                  </a:txBody>
                  <a:tcPr marL="62230" marR="62230" marT="62230" marB="62230">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1"/>
                    </a:solidFill>
                  </a:tcPr>
                </a:tc>
                <a:tc>
                  <a:txBody>
                    <a:bodyPr/>
                    <a:lstStyle/>
                    <a:p>
                      <a:pPr marL="0" indent="0" algn="r">
                        <a:lnSpc>
                          <a:spcPts val="1960"/>
                        </a:lnSpc>
                        <a:buNone/>
                      </a:pPr>
                      <a:r>
                        <a:rPr lang="en-US" sz="1400" b="1" dirty="0">
                          <a:solidFill>
                            <a:srgbClr val="14213D"/>
                          </a:solidFill>
                          <a:latin typeface="DM Sans" pitchFamily="34" charset="0"/>
                          <a:ea typeface="DM Sans" pitchFamily="34" charset="-122"/>
                          <a:cs typeface="DM Sans" pitchFamily="34" charset="-120"/>
                        </a:rPr>
                        <a:t>Test mAP .5:.95</a:t>
                      </a:r>
                      <a:endParaRPr lang="en-US" sz="1400" dirty="0">
                        <a:latin typeface="DM Sans" charset="0"/>
                        <a:ea typeface="DM Sans" charset="0"/>
                        <a:cs typeface="DM Sans" charset="0"/>
                      </a:endParaRPr>
                    </a:p>
                  </a:txBody>
                  <a:tcPr marL="62230" marR="62230" marT="62230" marB="62230">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1"/>
                    </a:solidFill>
                  </a:tcPr>
                </a:tc>
                <a:tc>
                  <a:txBody>
                    <a:bodyPr/>
                    <a:lstStyle/>
                    <a:p>
                      <a:pPr marL="0" indent="0" algn="r">
                        <a:lnSpc>
                          <a:spcPts val="1960"/>
                        </a:lnSpc>
                        <a:buNone/>
                      </a:pPr>
                      <a:r>
                        <a:rPr lang="en-US" sz="1400" b="1" dirty="0">
                          <a:solidFill>
                            <a:srgbClr val="14213D"/>
                          </a:solidFill>
                          <a:latin typeface="DM Sans" pitchFamily="34" charset="0"/>
                          <a:ea typeface="DM Sans" pitchFamily="34" charset="-122"/>
                          <a:cs typeface="DM Sans" pitchFamily="34" charset="-120"/>
                        </a:rPr>
                        <a:t>Fields exact</a:t>
                      </a:r>
                      <a:endParaRPr lang="en-US" sz="1400" dirty="0">
                        <a:latin typeface="DM Sans" charset="0"/>
                        <a:ea typeface="DM Sans" charset="0"/>
                        <a:cs typeface="DM Sans" charset="0"/>
                      </a:endParaRPr>
                    </a:p>
                  </a:txBody>
                  <a:tcPr marL="62230" marR="62230" marT="62230" marB="62230">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1"/>
                    </a:solidFill>
                  </a:tcPr>
                </a:tc>
                <a:tc>
                  <a:txBody>
                    <a:bodyPr/>
                    <a:lstStyle/>
                    <a:p>
                      <a:pPr marL="0" indent="0" algn="r">
                        <a:lnSpc>
                          <a:spcPts val="1960"/>
                        </a:lnSpc>
                        <a:buNone/>
                      </a:pPr>
                      <a:r>
                        <a:rPr lang="en-US" sz="1400" b="1" dirty="0">
                          <a:solidFill>
                            <a:srgbClr val="14213D"/>
                          </a:solidFill>
                          <a:latin typeface="DM Sans" pitchFamily="34" charset="0"/>
                          <a:ea typeface="DM Sans" pitchFamily="34" charset="-122"/>
                          <a:cs typeface="DM Sans" pitchFamily="34" charset="-120"/>
                        </a:rPr>
                        <a:t>Values exact</a:t>
                      </a:r>
                      <a:endParaRPr lang="en-US" sz="1400" dirty="0">
                        <a:latin typeface="DM Sans" charset="0"/>
                        <a:ea typeface="DM Sans" charset="0"/>
                        <a:cs typeface="DM Sans" charset="0"/>
                      </a:endParaRPr>
                    </a:p>
                  </a:txBody>
                  <a:tcPr marL="62230" marR="62230" marT="62230" marB="62230">
                    <a:lnL w="12700" cap="flat" cmpd="sng" algn="ctr">
                      <a:solidFill>
                        <a:srgbClr val="B7B7B4"/>
                      </a:solidFill>
                      <a:prstDash val="solid"/>
                      <a:round/>
                      <a:headEnd type="none" w="med" len="med"/>
                      <a:tailEnd type="none" w="med" len="med"/>
                    </a:lnL>
                    <a:lnR w="12700" cap="flat" cmpd="sng" algn="ctr">
                      <a:solidFill>
                        <a:srgbClr val="B7B7B4"/>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7B7B4"/>
                      </a:solidFill>
                      <a:prstDash val="solid"/>
                      <a:round/>
                      <a:headEnd type="none" w="med" len="med"/>
                      <a:tailEnd type="none" w="med" len="med"/>
                    </a:lnB>
                    <a:solidFill>
                      <a:srgbClr val="E5E5E1"/>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YOLOv3 (Darknet-53)</a:t>
                      </a:r>
                      <a:endParaRPr lang="en-US" sz="1400" dirty="0">
                        <a:latin typeface="DM Sans" charset="0"/>
                        <a:ea typeface="DM Sans" charset="0"/>
                        <a:cs typeface="DM Sans" charset="0"/>
                      </a:endParaRPr>
                    </a:p>
                  </a:txBody>
                  <a:tcPr marL="62230" marR="62230" marT="62230" marB="62230">
                    <a:lnL w="12700" cap="flat" cmpd="sng" algn="ctr">
                      <a:solidFill>
                        <a:srgbClr val="C5C5C2"/>
                      </a:solidFill>
                      <a:prstDash val="solid"/>
                      <a:round/>
                      <a:headEnd type="none" w="med" len="med"/>
                      <a:tailEnd type="none" w="med" len="med"/>
                    </a:lnL>
                    <a:lnR w="12700" cap="flat" cmpd="sng" algn="ctr">
                      <a:solidFill>
                        <a:srgbClr val="C5C5C2"/>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103.7 M</a:t>
                      </a:r>
                      <a:endParaRPr lang="en-US" sz="1400" dirty="0">
                        <a:latin typeface="DM Sans" charset="0"/>
                        <a:ea typeface="DM Sans" charset="0"/>
                        <a:cs typeface="DM Sans" charset="0"/>
                      </a:endParaRPr>
                    </a:p>
                  </a:txBody>
                  <a:tcPr marL="62230" marR="62230" marT="62230" marB="62230">
                    <a:lnL w="12700" cap="flat" cmpd="sng" algn="ctr">
                      <a:solidFill>
                        <a:srgbClr val="C5C5C2"/>
                      </a:solidFill>
                      <a:prstDash val="solid"/>
                      <a:round/>
                      <a:headEnd type="none" w="med" len="med"/>
                      <a:tailEnd type="none" w="med" len="med"/>
                    </a:lnL>
                    <a:lnR w="12700" cap="flat" cmpd="sng" algn="ctr">
                      <a:solidFill>
                        <a:srgbClr val="C5C5C2"/>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0.818</a:t>
                      </a:r>
                      <a:endParaRPr lang="en-US" sz="1400" dirty="0">
                        <a:latin typeface="DM Sans" charset="0"/>
                        <a:ea typeface="DM Sans" charset="0"/>
                        <a:cs typeface="DM Sans" charset="0"/>
                      </a:endParaRPr>
                    </a:p>
                  </a:txBody>
                  <a:tcPr marL="62230" marR="62230" marT="62230" marB="62230">
                    <a:lnL w="12700" cap="flat" cmpd="sng" algn="ctr">
                      <a:solidFill>
                        <a:srgbClr val="C5C5C2"/>
                      </a:solidFill>
                      <a:prstDash val="solid"/>
                      <a:round/>
                      <a:headEnd type="none" w="med" len="med"/>
                      <a:tailEnd type="none" w="med" len="med"/>
                    </a:lnL>
                    <a:lnR w="12700" cap="flat" cmpd="sng" algn="ctr">
                      <a:solidFill>
                        <a:srgbClr val="C5C5C2"/>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0.806</a:t>
                      </a:r>
                      <a:endParaRPr lang="en-US" sz="1400" dirty="0">
                        <a:latin typeface="DM Sans" charset="0"/>
                        <a:ea typeface="DM Sans" charset="0"/>
                        <a:cs typeface="DM Sans" charset="0"/>
                      </a:endParaRPr>
                    </a:p>
                  </a:txBody>
                  <a:tcPr marL="62230" marR="62230" marT="62230" marB="62230">
                    <a:lnL w="12700" cap="flat" cmpd="sng" algn="ctr">
                      <a:solidFill>
                        <a:srgbClr val="C5C5C2"/>
                      </a:solidFill>
                      <a:prstDash val="solid"/>
                      <a:round/>
                      <a:headEnd type="none" w="med" len="med"/>
                      <a:tailEnd type="none" w="med" len="med"/>
                    </a:lnL>
                    <a:lnR w="12700" cap="flat" cmpd="sng" algn="ctr">
                      <a:solidFill>
                        <a:srgbClr val="C5C5C2"/>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82.9%</a:t>
                      </a:r>
                      <a:endParaRPr lang="en-US" sz="1400" dirty="0">
                        <a:latin typeface="DM Sans" charset="0"/>
                        <a:ea typeface="DM Sans" charset="0"/>
                        <a:cs typeface="DM Sans" charset="0"/>
                      </a:endParaRPr>
                    </a:p>
                  </a:txBody>
                  <a:tcPr marL="62230" marR="62230" marT="62230" marB="62230">
                    <a:lnL w="12700" cap="flat" cmpd="sng" algn="ctr">
                      <a:solidFill>
                        <a:srgbClr val="C5C5C2"/>
                      </a:solidFill>
                      <a:prstDash val="solid"/>
                      <a:round/>
                      <a:headEnd type="none" w="med" len="med"/>
                      <a:tailEnd type="none" w="med" len="med"/>
                    </a:lnL>
                    <a:lnR w="12700" cap="flat" cmpd="sng" algn="ctr">
                      <a:solidFill>
                        <a:srgbClr val="C5C5C2"/>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2"/>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88.7%</a:t>
                      </a:r>
                      <a:endParaRPr lang="en-US" sz="1400" dirty="0">
                        <a:latin typeface="DM Sans" charset="0"/>
                        <a:ea typeface="DM Sans" charset="0"/>
                        <a:cs typeface="DM Sans" charset="0"/>
                      </a:endParaRPr>
                    </a:p>
                  </a:txBody>
                  <a:tcPr marL="62230" marR="62230" marT="62230" marB="62230">
                    <a:lnL w="12700" cap="flat" cmpd="sng" algn="ctr">
                      <a:solidFill>
                        <a:srgbClr val="C5C5C2"/>
                      </a:solidFill>
                      <a:prstDash val="solid"/>
                      <a:round/>
                      <a:headEnd type="none" w="med" len="med"/>
                      <a:tailEnd type="none" w="med" len="med"/>
                    </a:lnL>
                    <a:lnR w="12700" cap="flat" cmpd="sng" algn="ctr">
                      <a:solidFill>
                        <a:srgbClr val="C5C5C2"/>
                      </a:solidFill>
                      <a:prstDash val="solid"/>
                      <a:round/>
                      <a:headEnd type="none" w="med" len="med"/>
                      <a:tailEnd type="none" w="med" len="med"/>
                    </a:lnR>
                    <a:lnT w="12700" cap="flat" cmpd="sng" algn="ctr">
                      <a:solidFill>
                        <a:srgbClr val="B7B7B4"/>
                      </a:solidFill>
                      <a:prstDash val="solid"/>
                      <a:round/>
                      <a:headEnd type="none" w="med" len="med"/>
                      <a:tailEnd type="none" w="med" len="med"/>
                    </a:lnT>
                    <a:lnB w="12700" cap="flat" cmpd="sng" algn="ctr">
                      <a:solidFill>
                        <a:srgbClr val="C5C5C2"/>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YOLO26n (shipped)</a:t>
                      </a:r>
                      <a:endParaRPr lang="en-US" sz="1400" dirty="0">
                        <a:latin typeface="DM Sans" charset="0"/>
                        <a:ea typeface="DM Sans" charset="0"/>
                        <a:cs typeface="DM Sans" charset="0"/>
                      </a:endParaRPr>
                    </a:p>
                  </a:txBody>
                  <a:tcPr marL="62230" marR="62230" marT="62230" marB="62230">
                    <a:lnL w="12700" cap="flat" cmpd="sng" algn="ctr">
                      <a:solidFill>
                        <a:srgbClr val="C5C5C2"/>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2.5 M</a:t>
                      </a:r>
                      <a:endParaRPr lang="en-US" sz="1400" dirty="0">
                        <a:latin typeface="DM Sans" charset="0"/>
                        <a:ea typeface="DM Sans" charset="0"/>
                        <a:cs typeface="DM Sans" charset="0"/>
                      </a:endParaRPr>
                    </a:p>
                  </a:txBody>
                  <a:tcPr marL="62230" marR="62230" marT="62230" marB="62230">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0.878</a:t>
                      </a:r>
                      <a:endParaRPr lang="en-US" sz="1400" dirty="0">
                        <a:latin typeface="DM Sans" charset="0"/>
                        <a:ea typeface="DM Sans" charset="0"/>
                        <a:cs typeface="DM Sans" charset="0"/>
                      </a:endParaRPr>
                    </a:p>
                  </a:txBody>
                  <a:tcPr marL="62230" marR="62230" marT="62230" marB="62230">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0.876</a:t>
                      </a:r>
                      <a:endParaRPr lang="en-US" sz="1400" dirty="0">
                        <a:latin typeface="DM Sans" charset="0"/>
                        <a:ea typeface="DM Sans" charset="0"/>
                        <a:cs typeface="DM Sans" charset="0"/>
                      </a:endParaRPr>
                    </a:p>
                  </a:txBody>
                  <a:tcPr marL="62230" marR="62230" marT="62230" marB="62230">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89.2%</a:t>
                      </a:r>
                      <a:endParaRPr lang="en-US" sz="1400" dirty="0">
                        <a:latin typeface="DM Sans" charset="0"/>
                        <a:ea typeface="DM Sans" charset="0"/>
                        <a:cs typeface="DM Sans" charset="0"/>
                      </a:endParaRPr>
                    </a:p>
                  </a:txBody>
                  <a:tcPr marL="62230" marR="62230" marT="62230" marB="62230">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93.5%</a:t>
                      </a:r>
                      <a:endParaRPr lang="en-US" sz="1400" dirty="0">
                        <a:latin typeface="DM Sans" charset="0"/>
                        <a:ea typeface="DM Sans" charset="0"/>
                        <a:cs typeface="DM Sans" charset="0"/>
                      </a:endParaRPr>
                    </a:p>
                  </a:txBody>
                  <a:tcPr marL="62230" marR="62230" marT="62230" marB="62230">
                    <a:lnL w="12700" cap="flat" cmpd="sng" algn="ctr">
                      <a:solidFill>
                        <a:srgbClr val="B5BCC8"/>
                      </a:solidFill>
                      <a:prstDash val="solid"/>
                      <a:round/>
                      <a:headEnd type="none" w="med" len="med"/>
                      <a:tailEnd type="none" w="med" len="med"/>
                    </a:lnL>
                    <a:lnR w="12700" cap="flat" cmpd="sng" algn="ctr">
                      <a:solidFill>
                        <a:srgbClr val="B5BCC8"/>
                      </a:solidFill>
                      <a:prstDash val="solid"/>
                      <a:round/>
                      <a:headEnd type="none" w="med" len="med"/>
                      <a:tailEnd type="none" w="med" len="med"/>
                    </a:lnR>
                    <a:lnT w="12700" cap="flat" cmpd="sng" algn="ctr">
                      <a:solidFill>
                        <a:srgbClr val="C5C5C2"/>
                      </a:solidFill>
                      <a:prstDash val="solid"/>
                      <a:round/>
                      <a:headEnd type="none" w="med" len="med"/>
                      <a:tailEnd type="none" w="med" len="med"/>
                    </a:lnT>
                    <a:lnB w="12700" cap="flat" cmpd="sng" algn="ctr">
                      <a:solidFill>
                        <a:srgbClr val="B5BCC8"/>
                      </a:solidFill>
                      <a:prstDash val="solid"/>
                      <a:round/>
                      <a:headEnd type="none" w="med" len="med"/>
                      <a:tailEnd type="none" w="med" len="med"/>
                    </a:lnB>
                    <a:solidFill>
                      <a:srgbClr val="E3ECFB"/>
                    </a:solidFill>
                  </a:tcPr>
                </a:tc>
                <a:extLst>
                  <a:ext uri="{0D108BD9-81ED-4DB2-BD59-A6C34878D82A}">
                    <a16:rowId xmlns:a16="http://schemas.microsoft.com/office/drawing/2014/main" val="10002"/>
                  </a:ext>
                </a:extLst>
              </a:tr>
            </a:tbl>
          </a:graphicData>
        </a:graphic>
      </p:graphicFrame>
      <p:sp>
        <p:nvSpPr>
          <p:cNvPr id="5" name="Shape 2"/>
          <p:cNvSpPr/>
          <p:nvPr/>
        </p:nvSpPr>
        <p:spPr>
          <a:xfrm>
            <a:off x="812800" y="3294379"/>
            <a:ext cx="5176520" cy="1534160"/>
          </a:xfrm>
          <a:prstGeom prst="roundRect">
            <a:avLst>
              <a:gd name="adj" fmla="val 6623"/>
            </a:avLst>
          </a:prstGeom>
          <a:solidFill>
            <a:srgbClr val="14213D"/>
          </a:solidFill>
          <a:ln/>
        </p:spPr>
      </p:sp>
      <p:sp>
        <p:nvSpPr>
          <p:cNvPr id="6" name="Text 3"/>
          <p:cNvSpPr/>
          <p:nvPr/>
        </p:nvSpPr>
        <p:spPr>
          <a:xfrm>
            <a:off x="1066800" y="3522979"/>
            <a:ext cx="480857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F0A060"/>
                </a:solidFill>
                <a:latin typeface="Space Grotesk" pitchFamily="34" charset="0"/>
                <a:ea typeface="Space Grotesk" pitchFamily="34" charset="-122"/>
                <a:cs typeface="Space Grotesk" pitchFamily="34" charset="-120"/>
              </a:rPr>
              <a:t>The rule, fixed before testing</a:t>
            </a:r>
            <a:endParaRPr lang="en-US" sz="1600" dirty="0"/>
          </a:p>
        </p:txBody>
      </p:sp>
      <p:sp>
        <p:nvSpPr>
          <p:cNvPr id="7" name="Text 4"/>
          <p:cNvSpPr/>
          <p:nvPr/>
        </p:nvSpPr>
        <p:spPr>
          <a:xfrm>
            <a:off x="1066800" y="3843021"/>
            <a:ext cx="4808576"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F7F7F3"/>
                </a:solidFill>
                <a:latin typeface="DM Sans" pitchFamily="34" charset="0"/>
                <a:ea typeface="DM Sans" pitchFamily="34" charset="-122"/>
                <a:cs typeface="DM Sans" pitchFamily="34" charset="-120"/>
              </a:rPr>
              <a:t>Ship YOLOv3 unless YOLO26n is more than 0.02 mAP better on validation. The gap was +0.060, so YOLO26n ships as model/best.pt.</a:t>
            </a:r>
            <a:endParaRPr lang="en-US" sz="1400" dirty="0"/>
          </a:p>
        </p:txBody>
      </p:sp>
      <p:sp>
        <p:nvSpPr>
          <p:cNvPr id="8" name="Shape 5"/>
          <p:cNvSpPr/>
          <p:nvPr/>
        </p:nvSpPr>
        <p:spPr>
          <a:xfrm>
            <a:off x="6195695" y="3297554"/>
            <a:ext cx="5180330" cy="1527810"/>
          </a:xfrm>
          <a:prstGeom prst="roundRect">
            <a:avLst>
              <a:gd name="adj" fmla="val 6442"/>
            </a:avLst>
          </a:prstGeom>
          <a:solidFill>
            <a:srgbClr val="FDFDFB"/>
          </a:solidFill>
          <a:ln w="6350">
            <a:solidFill>
              <a:srgbClr val="DCE1E8"/>
            </a:solidFill>
            <a:prstDash val="solid"/>
          </a:ln>
        </p:spPr>
      </p:sp>
      <p:sp>
        <p:nvSpPr>
          <p:cNvPr id="9" name="Text 6"/>
          <p:cNvSpPr/>
          <p:nvPr/>
        </p:nvSpPr>
        <p:spPr>
          <a:xfrm>
            <a:off x="6451600" y="3528064"/>
            <a:ext cx="4808576"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14213D"/>
                </a:solidFill>
                <a:latin typeface="Space Grotesk" pitchFamily="34" charset="0"/>
                <a:ea typeface="Space Grotesk" pitchFamily="34" charset="-122"/>
                <a:cs typeface="Space Grotesk" pitchFamily="34" charset="-120"/>
              </a:rPr>
              <a:t>Why the small model wins</a:t>
            </a:r>
            <a:endParaRPr lang="en-US" sz="1600" dirty="0"/>
          </a:p>
        </p:txBody>
      </p:sp>
      <p:sp>
        <p:nvSpPr>
          <p:cNvPr id="10" name="Text 7"/>
          <p:cNvSpPr/>
          <p:nvPr/>
        </p:nvSpPr>
        <p:spPr>
          <a:xfrm>
            <a:off x="6451600" y="3848100"/>
            <a:ext cx="4808576" cy="772160"/>
          </a:xfrm>
          <a:prstGeom prst="rect">
            <a:avLst/>
          </a:prstGeom>
          <a:noFill/>
          <a:ln/>
        </p:spPr>
        <p:txBody>
          <a:bodyPr wrap="square" lIns="0" tIns="0" rIns="0" bIns="0" rtlCol="0" anchor="t">
            <a:normAutofit/>
          </a:bodyPr>
          <a:lstStyle/>
          <a:p>
            <a:pPr marL="0" indent="0" algn="l">
              <a:lnSpc>
                <a:spcPts val="1960"/>
              </a:lnSpc>
              <a:buNone/>
            </a:pPr>
            <a:r>
              <a:rPr lang="en-US" sz="1400" dirty="0">
                <a:solidFill>
                  <a:srgbClr val="4A5568"/>
                </a:solidFill>
                <a:latin typeface="DM Sans" pitchFamily="34" charset="0"/>
                <a:ea typeface="DM Sans" pitchFamily="34" charset="-122"/>
                <a:cs typeface="DM Sans" pitchFamily="34" charset="-120"/>
              </a:rPr>
              <a:t>Both find every field. YOLO26n draws tighter boxes on thin text, and tighter crops read better. YOLOv3 stays one flag away.</a:t>
            </a:r>
            <a:endParaRPr lang="en-US" sz="1400" dirty="0"/>
          </a:p>
        </p:txBody>
      </p:sp>
      <p:sp>
        <p:nvSpPr>
          <p:cNvPr id="11" name="Text 8"/>
          <p:cNvSpPr/>
          <p:nvPr/>
        </p:nvSpPr>
        <p:spPr>
          <a:xfrm>
            <a:off x="812800" y="6238242"/>
            <a:ext cx="29727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6"/>
                </a:solidFill>
                <a:latin typeface="DM Sans" pitchFamily="34" charset="0"/>
                <a:ea typeface="DM Sans" pitchFamily="34" charset="-122"/>
                <a:cs typeface="DM Sans" pitchFamily="34" charset="-120"/>
              </a:rPr>
              <a:t>Lab Report OCR · YOLO + Tesseract</a:t>
            </a:r>
            <a:endParaRPr lang="en-US" sz="1200" dirty="0"/>
          </a:p>
        </p:txBody>
      </p:sp>
      <p:sp>
        <p:nvSpPr>
          <p:cNvPr id="12" name="Text 9"/>
          <p:cNvSpPr/>
          <p:nvPr/>
        </p:nvSpPr>
        <p:spPr>
          <a:xfrm>
            <a:off x="11232674" y="6238242"/>
            <a:ext cx="14652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86"/>
                </a:solidFill>
                <a:latin typeface="DM Sans" pitchFamily="34" charset="0"/>
                <a:ea typeface="DM Sans" pitchFamily="34" charset="-122"/>
                <a:cs typeface="DM Sans" pitchFamily="34" charset="-120"/>
              </a:rPr>
              <a:t>9</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AEE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71A"/>
                </a:solidFill>
                <a:latin typeface="DM Sans" pitchFamily="34" charset="0"/>
                <a:ea typeface="DM Sans" pitchFamily="34" charset="-122"/>
                <a:cs typeface="DM Sans" pitchFamily="34" charset="-120"/>
              </a:rPr>
              <a:t>RESULTS · 14 UNSEEN TEST PHOTOS, 222 FIELDS</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Nine in ten fields read exactly right</a:t>
            </a:r>
            <a:endParaRPr lang="en-US" sz="3200" dirty="0"/>
          </a:p>
        </p:txBody>
      </p:sp>
      <p:sp>
        <p:nvSpPr>
          <p:cNvPr id="4" name="Shape 2"/>
          <p:cNvSpPr/>
          <p:nvPr/>
        </p:nvSpPr>
        <p:spPr>
          <a:xfrm>
            <a:off x="812800" y="1879600"/>
            <a:ext cx="2527300" cy="1610360"/>
          </a:xfrm>
          <a:prstGeom prst="roundRect">
            <a:avLst>
              <a:gd name="adj" fmla="val 6309"/>
            </a:avLst>
          </a:prstGeom>
          <a:solidFill>
            <a:srgbClr val="FDFDFB"/>
          </a:solidFill>
          <a:ln/>
        </p:spPr>
      </p:sp>
      <p:sp>
        <p:nvSpPr>
          <p:cNvPr id="5" name="Text 3"/>
          <p:cNvSpPr/>
          <p:nvPr/>
        </p:nvSpPr>
        <p:spPr>
          <a:xfrm>
            <a:off x="1016000" y="2108200"/>
            <a:ext cx="2184527"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6BDB"/>
                </a:solidFill>
                <a:latin typeface="Space Grotesk" pitchFamily="34" charset="0"/>
                <a:ea typeface="Space Grotesk" pitchFamily="34" charset="-122"/>
                <a:cs typeface="Space Grotesk" pitchFamily="34" charset="-120"/>
              </a:rPr>
              <a:t>89.2%</a:t>
            </a:r>
            <a:endParaRPr lang="en-US" sz="3600" dirty="0"/>
          </a:p>
        </p:txBody>
      </p:sp>
      <p:sp>
        <p:nvSpPr>
          <p:cNvPr id="6" name="Text 4"/>
          <p:cNvSpPr/>
          <p:nvPr/>
        </p:nvSpPr>
        <p:spPr>
          <a:xfrm>
            <a:off x="1016000" y="2799079"/>
            <a:ext cx="218452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fields exact; the brief’s recipe gets 68.0%</a:t>
            </a:r>
            <a:endParaRPr lang="en-US" sz="1300" dirty="0"/>
          </a:p>
        </p:txBody>
      </p:sp>
      <p:sp>
        <p:nvSpPr>
          <p:cNvPr id="7" name="Shape 5"/>
          <p:cNvSpPr/>
          <p:nvPr/>
        </p:nvSpPr>
        <p:spPr>
          <a:xfrm>
            <a:off x="3492500" y="1879600"/>
            <a:ext cx="2527300" cy="1610360"/>
          </a:xfrm>
          <a:prstGeom prst="roundRect">
            <a:avLst>
              <a:gd name="adj" fmla="val 6309"/>
            </a:avLst>
          </a:prstGeom>
          <a:solidFill>
            <a:srgbClr val="FDFDFB"/>
          </a:solidFill>
          <a:ln/>
        </p:spPr>
      </p:sp>
      <p:sp>
        <p:nvSpPr>
          <p:cNvPr id="8" name="Text 6"/>
          <p:cNvSpPr/>
          <p:nvPr/>
        </p:nvSpPr>
        <p:spPr>
          <a:xfrm>
            <a:off x="3695700" y="2108200"/>
            <a:ext cx="2184527"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6BDB"/>
                </a:solidFill>
                <a:latin typeface="Space Grotesk" pitchFamily="34" charset="0"/>
                <a:ea typeface="Space Grotesk" pitchFamily="34" charset="-122"/>
                <a:cs typeface="Space Grotesk" pitchFamily="34" charset="-120"/>
              </a:rPr>
              <a:t>93.5%</a:t>
            </a:r>
            <a:endParaRPr lang="en-US" sz="3600" dirty="0"/>
          </a:p>
        </p:txBody>
      </p:sp>
      <p:sp>
        <p:nvSpPr>
          <p:cNvPr id="9" name="Text 7"/>
          <p:cNvSpPr/>
          <p:nvPr/>
        </p:nvSpPr>
        <p:spPr>
          <a:xfrm>
            <a:off x="3695700" y="2799079"/>
            <a:ext cx="218452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of values exact, the clinically critical field</a:t>
            </a:r>
            <a:endParaRPr lang="en-US" sz="1300" dirty="0"/>
          </a:p>
        </p:txBody>
      </p:sp>
      <p:sp>
        <p:nvSpPr>
          <p:cNvPr id="10" name="Shape 8"/>
          <p:cNvSpPr/>
          <p:nvPr/>
        </p:nvSpPr>
        <p:spPr>
          <a:xfrm>
            <a:off x="6172200" y="1879600"/>
            <a:ext cx="2527300" cy="1610360"/>
          </a:xfrm>
          <a:prstGeom prst="roundRect">
            <a:avLst>
              <a:gd name="adj" fmla="val 6309"/>
            </a:avLst>
          </a:prstGeom>
          <a:solidFill>
            <a:srgbClr val="FDFDFB"/>
          </a:solidFill>
          <a:ln/>
        </p:spPr>
      </p:sp>
      <p:sp>
        <p:nvSpPr>
          <p:cNvPr id="11" name="Text 9"/>
          <p:cNvSpPr/>
          <p:nvPr/>
        </p:nvSpPr>
        <p:spPr>
          <a:xfrm>
            <a:off x="6375400" y="2108200"/>
            <a:ext cx="2184527"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6BDB"/>
                </a:solidFill>
                <a:latin typeface="Space Grotesk" pitchFamily="34" charset="0"/>
                <a:ea typeface="Space Grotesk" pitchFamily="34" charset="-122"/>
                <a:cs typeface="Space Grotesk" pitchFamily="34" charset="-120"/>
              </a:rPr>
              <a:t>0.036</a:t>
            </a:r>
            <a:endParaRPr lang="en-US" sz="3600" dirty="0"/>
          </a:p>
        </p:txBody>
      </p:sp>
      <p:sp>
        <p:nvSpPr>
          <p:cNvPr id="12" name="Text 10"/>
          <p:cNvSpPr/>
          <p:nvPr/>
        </p:nvSpPr>
        <p:spPr>
          <a:xfrm>
            <a:off x="6375400" y="2799079"/>
            <a:ext cx="218452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character error rate, down from 0.135</a:t>
            </a:r>
            <a:endParaRPr lang="en-US" sz="1300" dirty="0"/>
          </a:p>
        </p:txBody>
      </p:sp>
      <p:sp>
        <p:nvSpPr>
          <p:cNvPr id="13" name="Shape 11"/>
          <p:cNvSpPr/>
          <p:nvPr/>
        </p:nvSpPr>
        <p:spPr>
          <a:xfrm>
            <a:off x="8851900" y="1879600"/>
            <a:ext cx="2527300" cy="1610360"/>
          </a:xfrm>
          <a:prstGeom prst="roundRect">
            <a:avLst>
              <a:gd name="adj" fmla="val 6309"/>
            </a:avLst>
          </a:prstGeom>
          <a:solidFill>
            <a:srgbClr val="FDFDFB"/>
          </a:solidFill>
          <a:ln/>
        </p:spPr>
      </p:sp>
      <p:sp>
        <p:nvSpPr>
          <p:cNvPr id="14" name="Text 12"/>
          <p:cNvSpPr/>
          <p:nvPr/>
        </p:nvSpPr>
        <p:spPr>
          <a:xfrm>
            <a:off x="9055100" y="2108200"/>
            <a:ext cx="2184527" cy="665480"/>
          </a:xfrm>
          <a:prstGeom prst="rect">
            <a:avLst/>
          </a:prstGeom>
          <a:noFill/>
          <a:ln/>
        </p:spPr>
        <p:txBody>
          <a:bodyPr wrap="square" lIns="0" tIns="0" rIns="0" bIns="0" rtlCol="0" anchor="t">
            <a:normAutofit/>
          </a:bodyPr>
          <a:lstStyle/>
          <a:p>
            <a:pPr marL="0" indent="0" algn="l">
              <a:lnSpc>
                <a:spcPts val="5040"/>
              </a:lnSpc>
              <a:buNone/>
            </a:pPr>
            <a:r>
              <a:rPr lang="en-US" sz="3600" b="1" dirty="0">
                <a:solidFill>
                  <a:srgbClr val="2F6BDB"/>
                </a:solidFill>
                <a:latin typeface="Space Grotesk" pitchFamily="34" charset="0"/>
                <a:ea typeface="Space Grotesk" pitchFamily="34" charset="-122"/>
                <a:cs typeface="Space Grotesk" pitchFamily="34" charset="-120"/>
              </a:rPr>
              <a:t>0.995</a:t>
            </a:r>
            <a:endParaRPr lang="en-US" sz="3600" dirty="0"/>
          </a:p>
        </p:txBody>
      </p:sp>
      <p:sp>
        <p:nvSpPr>
          <p:cNvPr id="15" name="Text 13"/>
          <p:cNvSpPr/>
          <p:nvPr/>
        </p:nvSpPr>
        <p:spPr>
          <a:xfrm>
            <a:off x="9055100" y="2799079"/>
            <a:ext cx="2184527"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detector mAP@0.5; every field found</a:t>
            </a:r>
            <a:endParaRPr lang="en-US" sz="1300" dirty="0"/>
          </a:p>
        </p:txBody>
      </p:sp>
      <p:graphicFrame>
        <p:nvGraphicFramePr>
          <p:cNvPr id="16" name="Table 0"/>
          <p:cNvGraphicFramePr>
            <a:graphicFrameLocks noGrp="1"/>
          </p:cNvGraphicFramePr>
          <p:nvPr>
            <p:extLst>
              <p:ext uri="{D42A27DB-BD31-4B8C-83A1-F6EECF244321}">
                <p14:modId xmlns:p14="http://schemas.microsoft.com/office/powerpoint/2010/main" val="1579011935"/>
              </p:ext>
            </p:extLst>
          </p:nvPr>
        </p:nvGraphicFramePr>
        <p:xfrm>
          <a:off x="822960" y="3804924"/>
          <a:ext cx="10556240" cy="1534160"/>
        </p:xfrm>
        <a:graphic>
          <a:graphicData uri="http://schemas.openxmlformats.org/drawingml/2006/table">
            <a:tbl>
              <a:tblPr/>
              <a:tblGrid>
                <a:gridCol w="2955747">
                  <a:extLst>
                    <a:ext uri="{9D8B030D-6E8A-4147-A177-3AD203B41FA5}">
                      <a16:colId xmlns:a16="http://schemas.microsoft.com/office/drawing/2014/main" val="20000"/>
                    </a:ext>
                  </a:extLst>
                </a:gridCol>
                <a:gridCol w="1900123">
                  <a:extLst>
                    <a:ext uri="{9D8B030D-6E8A-4147-A177-3AD203B41FA5}">
                      <a16:colId xmlns:a16="http://schemas.microsoft.com/office/drawing/2014/main" val="20001"/>
                    </a:ext>
                  </a:extLst>
                </a:gridCol>
                <a:gridCol w="1900123">
                  <a:extLst>
                    <a:ext uri="{9D8B030D-6E8A-4147-A177-3AD203B41FA5}">
                      <a16:colId xmlns:a16="http://schemas.microsoft.com/office/drawing/2014/main" val="20002"/>
                    </a:ext>
                  </a:extLst>
                </a:gridCol>
                <a:gridCol w="3800246">
                  <a:extLst>
                    <a:ext uri="{9D8B030D-6E8A-4147-A177-3AD203B41FA5}">
                      <a16:colId xmlns:a16="http://schemas.microsoft.com/office/drawing/2014/main" val="20003"/>
                    </a:ext>
                  </a:extLst>
                </a:gridCol>
              </a:tblGrid>
              <a:tr h="383540">
                <a:tc>
                  <a:txBody>
                    <a:bodyPr/>
                    <a:lstStyle/>
                    <a:p>
                      <a:pPr marL="0" indent="0">
                        <a:lnSpc>
                          <a:spcPts val="1960"/>
                        </a:lnSpc>
                        <a:buNone/>
                      </a:pPr>
                      <a:r>
                        <a:rPr lang="en-US" sz="1400" b="1" dirty="0">
                          <a:solidFill>
                            <a:srgbClr val="14213D"/>
                          </a:solidFill>
                          <a:latin typeface="DM Sans" pitchFamily="34" charset="0"/>
                          <a:ea typeface="DM Sans" pitchFamily="34" charset="-122"/>
                          <a:cs typeface="DM Sans" pitchFamily="34" charset="-120"/>
                        </a:rPr>
                        <a:t>By report</a:t>
                      </a:r>
                      <a:endParaRPr lang="en-US" sz="1400" dirty="0">
                        <a:latin typeface="DM Sans" charset="0"/>
                        <a:ea typeface="DM Sans" charset="0"/>
                        <a:cs typeface="DM Sans" charset="0"/>
                      </a:endParaRPr>
                    </a:p>
                  </a:txBody>
                  <a:tcPr marL="62230" marR="62230" marT="62230" marB="62230">
                    <a:lnL w="12700" cap="flat" cmpd="sng" algn="ctr">
                      <a:solidFill>
                        <a:srgbClr val="BBBEC3"/>
                      </a:solidFill>
                      <a:prstDash val="solid"/>
                      <a:round/>
                      <a:headEnd type="none" w="med" len="med"/>
                      <a:tailEnd type="none" w="med" len="med"/>
                    </a:lnL>
                    <a:lnR w="12700" cap="flat" cmpd="sng" algn="ctr">
                      <a:solidFill>
                        <a:srgbClr val="AEB1B4"/>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AEB1B4"/>
                      </a:solidFill>
                      <a:prstDash val="solid"/>
                      <a:round/>
                      <a:headEnd type="none" w="med" len="med"/>
                      <a:tailEnd type="none" w="med" len="med"/>
                    </a:lnB>
                    <a:solidFill>
                      <a:srgbClr val="D9DDE2"/>
                    </a:solidFill>
                  </a:tcPr>
                </a:tc>
                <a:tc>
                  <a:txBody>
                    <a:bodyPr/>
                    <a:lstStyle/>
                    <a:p>
                      <a:pPr marL="0" indent="0" algn="r">
                        <a:lnSpc>
                          <a:spcPts val="1960"/>
                        </a:lnSpc>
                        <a:buNone/>
                      </a:pPr>
                      <a:r>
                        <a:rPr lang="en-US" sz="1400" b="1" dirty="0">
                          <a:solidFill>
                            <a:srgbClr val="14213D"/>
                          </a:solidFill>
                          <a:latin typeface="DM Sans" pitchFamily="34" charset="0"/>
                          <a:ea typeface="DM Sans" pitchFamily="34" charset="-122"/>
                          <a:cs typeface="DM Sans" pitchFamily="34" charset="-120"/>
                        </a:rPr>
                        <a:t>Fields exact</a:t>
                      </a:r>
                      <a:endParaRPr lang="en-US" sz="1400" dirty="0">
                        <a:latin typeface="DM Sans" charset="0"/>
                        <a:ea typeface="DM Sans" charset="0"/>
                        <a:cs typeface="DM Sans" charset="0"/>
                      </a:endParaRPr>
                    </a:p>
                  </a:txBody>
                  <a:tcPr marL="62230" marR="62230" marT="62230" marB="62230">
                    <a:lnL w="12700" cap="flat" cmpd="sng" algn="ctr">
                      <a:solidFill>
                        <a:srgbClr val="AEB1B4"/>
                      </a:solidFill>
                      <a:prstDash val="solid"/>
                      <a:round/>
                      <a:headEnd type="none" w="med" len="med"/>
                      <a:tailEnd type="none" w="med" len="med"/>
                    </a:lnL>
                    <a:lnR w="12700" cap="flat" cmpd="sng" algn="ctr">
                      <a:solidFill>
                        <a:srgbClr val="AEB1B4"/>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AEB1B4"/>
                      </a:solidFill>
                      <a:prstDash val="solid"/>
                      <a:round/>
                      <a:headEnd type="none" w="med" len="med"/>
                      <a:tailEnd type="none" w="med" len="med"/>
                    </a:lnB>
                    <a:solidFill>
                      <a:srgbClr val="D9DDE2"/>
                    </a:solidFill>
                  </a:tcPr>
                </a:tc>
                <a:tc>
                  <a:txBody>
                    <a:bodyPr/>
                    <a:lstStyle/>
                    <a:p>
                      <a:pPr marL="0" indent="0" algn="r">
                        <a:lnSpc>
                          <a:spcPts val="1960"/>
                        </a:lnSpc>
                        <a:buNone/>
                      </a:pPr>
                      <a:r>
                        <a:rPr lang="en-US" sz="1400" b="1" dirty="0">
                          <a:solidFill>
                            <a:srgbClr val="14213D"/>
                          </a:solidFill>
                          <a:latin typeface="DM Sans" pitchFamily="34" charset="0"/>
                          <a:ea typeface="DM Sans" pitchFamily="34" charset="-122"/>
                          <a:cs typeface="DM Sans" pitchFamily="34" charset="-120"/>
                        </a:rPr>
                        <a:t>Values exact</a:t>
                      </a:r>
                      <a:endParaRPr lang="en-US" sz="1400" dirty="0">
                        <a:latin typeface="DM Sans" charset="0"/>
                        <a:ea typeface="DM Sans" charset="0"/>
                        <a:cs typeface="DM Sans" charset="0"/>
                      </a:endParaRPr>
                    </a:p>
                  </a:txBody>
                  <a:tcPr marL="62230" marR="62230" marT="62230" marB="62230">
                    <a:lnL w="12700" cap="flat" cmpd="sng" algn="ctr">
                      <a:solidFill>
                        <a:srgbClr val="AEB1B4"/>
                      </a:solidFill>
                      <a:prstDash val="solid"/>
                      <a:round/>
                      <a:headEnd type="none" w="med" len="med"/>
                      <a:tailEnd type="none" w="med" len="med"/>
                    </a:lnL>
                    <a:lnR w="12700" cap="flat" cmpd="sng" algn="ctr">
                      <a:solidFill>
                        <a:srgbClr val="AEB1B4"/>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AEB1B4"/>
                      </a:solidFill>
                      <a:prstDash val="solid"/>
                      <a:round/>
                      <a:headEnd type="none" w="med" len="med"/>
                      <a:tailEnd type="none" w="med" len="med"/>
                    </a:lnB>
                    <a:solidFill>
                      <a:srgbClr val="D9DDE2"/>
                    </a:solidFill>
                  </a:tcPr>
                </a:tc>
                <a:tc>
                  <a:txBody>
                    <a:bodyPr/>
                    <a:lstStyle/>
                    <a:p>
                      <a:pPr marL="0" indent="0">
                        <a:lnSpc>
                          <a:spcPts val="1960"/>
                        </a:lnSpc>
                        <a:buNone/>
                      </a:pPr>
                      <a:r>
                        <a:rPr lang="en-US" sz="1400" b="1" dirty="0">
                          <a:solidFill>
                            <a:srgbClr val="14213D"/>
                          </a:solidFill>
                          <a:latin typeface="DM Sans" pitchFamily="34" charset="0"/>
                          <a:ea typeface="DM Sans" pitchFamily="34" charset="-122"/>
                          <a:cs typeface="DM Sans" pitchFamily="34" charset="-120"/>
                        </a:rPr>
                        <a:t>Note</a:t>
                      </a:r>
                      <a:endParaRPr lang="en-US" sz="1400" dirty="0">
                        <a:latin typeface="DM Sans" charset="0"/>
                        <a:ea typeface="DM Sans" charset="0"/>
                        <a:cs typeface="DM Sans" charset="0"/>
                      </a:endParaRPr>
                    </a:p>
                  </a:txBody>
                  <a:tcPr marL="62230" marR="62230" marT="62230" marB="62230">
                    <a:lnL w="12700" cap="flat" cmpd="sng" algn="ctr">
                      <a:solidFill>
                        <a:srgbClr val="AEB1B4"/>
                      </a:solidFill>
                      <a:prstDash val="solid"/>
                      <a:round/>
                      <a:headEnd type="none" w="med" len="med"/>
                      <a:tailEnd type="none" w="med" len="med"/>
                    </a:lnL>
                    <a:lnR w="12700" cap="flat" cmpd="sng" algn="ctr">
                      <a:solidFill>
                        <a:srgbClr val="AEB1B4"/>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AEB1B4"/>
                      </a:solidFill>
                      <a:prstDash val="solid"/>
                      <a:round/>
                      <a:headEnd type="none" w="med" len="med"/>
                      <a:tailEnd type="none" w="med" len="med"/>
                    </a:lnB>
                    <a:solidFill>
                      <a:srgbClr val="D9DDE2"/>
                    </a:solidFill>
                  </a:tcPr>
                </a:tc>
                <a:extLst>
                  <a:ext uri="{0D108BD9-81ED-4DB2-BD59-A6C34878D82A}">
                    <a16:rowId xmlns:a16="http://schemas.microsoft.com/office/drawing/2014/main" val="10000"/>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Liver panel</a:t>
                      </a:r>
                      <a:endParaRPr lang="en-US" sz="1400" dirty="0">
                        <a:latin typeface="DM Sans" charset="0"/>
                        <a:ea typeface="DM Sans" charset="0"/>
                        <a:cs typeface="DM Sans" charset="0"/>
                      </a:endParaRPr>
                    </a:p>
                  </a:txBody>
                  <a:tcPr marL="62230" marR="62230" marT="62230" marB="62230">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AEB1B4"/>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93.2%</a:t>
                      </a:r>
                      <a:endParaRPr lang="en-US" sz="1400" dirty="0">
                        <a:latin typeface="DM Sans" charset="0"/>
                        <a:ea typeface="DM Sans" charset="0"/>
                        <a:cs typeface="DM Sans" charset="0"/>
                      </a:endParaRPr>
                    </a:p>
                  </a:txBody>
                  <a:tcPr marL="62230" marR="62230" marT="62230" marB="62230">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AEB1B4"/>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100%</a:t>
                      </a:r>
                      <a:endParaRPr lang="en-US" sz="1400" dirty="0">
                        <a:latin typeface="DM Sans" charset="0"/>
                        <a:ea typeface="DM Sans" charset="0"/>
                        <a:cs typeface="DM Sans" charset="0"/>
                      </a:endParaRPr>
                    </a:p>
                  </a:txBody>
                  <a:tcPr marL="62230" marR="62230" marT="62230" marB="62230">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AEB1B4"/>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11 tests per page</a:t>
                      </a:r>
                      <a:endParaRPr lang="en-US" sz="1400" dirty="0">
                        <a:latin typeface="DM Sans" charset="0"/>
                        <a:ea typeface="DM Sans" charset="0"/>
                        <a:cs typeface="DM Sans" charset="0"/>
                      </a:endParaRPr>
                    </a:p>
                  </a:txBody>
                  <a:tcPr marL="62230" marR="62230" marT="62230" marB="62230">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AEB1B4"/>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extLst>
                  <a:ext uri="{0D108BD9-81ED-4DB2-BD59-A6C34878D82A}">
                    <a16:rowId xmlns:a16="http://schemas.microsoft.com/office/drawing/2014/main" val="10001"/>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Thyroid panel</a:t>
                      </a:r>
                      <a:endParaRPr lang="en-US" sz="1400" dirty="0">
                        <a:latin typeface="DM Sans" charset="0"/>
                        <a:ea typeface="DM Sans" charset="0"/>
                        <a:cs typeface="DM Sans" charset="0"/>
                      </a:endParaRPr>
                    </a:p>
                  </a:txBody>
                  <a:tcPr marL="62230" marR="62230" marT="62230" marB="62230">
                    <a:lnL w="12700" cap="flat" cmpd="sng" algn="ctr">
                      <a:solidFill>
                        <a:srgbClr val="BBBEC3"/>
                      </a:solidFill>
                      <a:prstDash val="solid"/>
                      <a:round/>
                      <a:headEnd type="none" w="med" len="med"/>
                      <a:tailEnd type="none" w="med" len="med"/>
                    </a:lnL>
                    <a:lnR w="12700" cap="flat" cmpd="sng" algn="ctr">
                      <a:solidFill>
                        <a:srgbClr val="B1B5BC"/>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B1B5BC"/>
                      </a:solidFill>
                      <a:prstDash val="solid"/>
                      <a:round/>
                      <a:headEnd type="none" w="med" len="med"/>
                      <a:tailEnd type="none" w="med" len="med"/>
                    </a:lnB>
                    <a:solidFill>
                      <a:srgbClr val="DDE3EC"/>
                    </a:solidFill>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93.9%</a:t>
                      </a:r>
                      <a:endParaRPr lang="en-US" sz="1400" dirty="0">
                        <a:latin typeface="DM Sans" charset="0"/>
                        <a:ea typeface="DM Sans" charset="0"/>
                        <a:cs typeface="DM Sans" charset="0"/>
                      </a:endParaRPr>
                    </a:p>
                  </a:txBody>
                  <a:tcPr marL="62230" marR="62230" marT="62230" marB="62230">
                    <a:lnL w="12700" cap="flat" cmpd="sng" algn="ctr">
                      <a:solidFill>
                        <a:srgbClr val="B1B5BC"/>
                      </a:solidFill>
                      <a:prstDash val="solid"/>
                      <a:round/>
                      <a:headEnd type="none" w="med" len="med"/>
                      <a:tailEnd type="none" w="med" len="med"/>
                    </a:lnL>
                    <a:lnR w="12700" cap="flat" cmpd="sng" algn="ctr">
                      <a:solidFill>
                        <a:srgbClr val="B1B5BC"/>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B1B5BC"/>
                      </a:solidFill>
                      <a:prstDash val="solid"/>
                      <a:round/>
                      <a:headEnd type="none" w="med" len="med"/>
                      <a:tailEnd type="none" w="med" len="med"/>
                    </a:lnB>
                    <a:solidFill>
                      <a:srgbClr val="DDE3EC"/>
                    </a:solidFill>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100%</a:t>
                      </a:r>
                      <a:endParaRPr lang="en-US" sz="1400" dirty="0">
                        <a:latin typeface="DM Sans" charset="0"/>
                        <a:ea typeface="DM Sans" charset="0"/>
                        <a:cs typeface="DM Sans" charset="0"/>
                      </a:endParaRPr>
                    </a:p>
                  </a:txBody>
                  <a:tcPr marL="62230" marR="62230" marT="62230" marB="62230">
                    <a:lnL w="12700" cap="flat" cmpd="sng" algn="ctr">
                      <a:solidFill>
                        <a:srgbClr val="B1B5BC"/>
                      </a:solidFill>
                      <a:prstDash val="solid"/>
                      <a:round/>
                      <a:headEnd type="none" w="med" len="med"/>
                      <a:tailEnd type="none" w="med" len="med"/>
                    </a:lnL>
                    <a:lnR w="12700" cap="flat" cmpd="sng" algn="ctr">
                      <a:solidFill>
                        <a:srgbClr val="B1B5BC"/>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B1B5BC"/>
                      </a:solidFill>
                      <a:prstDash val="solid"/>
                      <a:round/>
                      <a:headEnd type="none" w="med" len="med"/>
                      <a:tailEnd type="none" w="med" len="med"/>
                    </a:lnB>
                    <a:solidFill>
                      <a:srgbClr val="DDE3EC"/>
                    </a:solidFill>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names often cropped by the photo</a:t>
                      </a:r>
                      <a:endParaRPr lang="en-US" sz="1400" dirty="0">
                        <a:latin typeface="DM Sans" charset="0"/>
                        <a:ea typeface="DM Sans" charset="0"/>
                        <a:cs typeface="DM Sans" charset="0"/>
                      </a:endParaRPr>
                    </a:p>
                  </a:txBody>
                  <a:tcPr marL="62230" marR="62230" marT="62230" marB="62230">
                    <a:lnL w="12700" cap="flat" cmpd="sng" algn="ctr">
                      <a:solidFill>
                        <a:srgbClr val="B1B5BC"/>
                      </a:solidFill>
                      <a:prstDash val="solid"/>
                      <a:round/>
                      <a:headEnd type="none" w="med" len="med"/>
                      <a:tailEnd type="none" w="med" len="med"/>
                    </a:lnL>
                    <a:lnR w="12700" cap="flat" cmpd="sng" algn="ctr">
                      <a:solidFill>
                        <a:srgbClr val="B1B5BC"/>
                      </a:solidFill>
                      <a:prstDash val="solid"/>
                      <a:round/>
                      <a:headEnd type="none" w="med" len="med"/>
                      <a:tailEnd type="none" w="med" len="med"/>
                    </a:lnR>
                    <a:lnT w="12700" cap="flat" cmpd="sng" algn="ctr">
                      <a:solidFill>
                        <a:srgbClr val="BBBEC3"/>
                      </a:solidFill>
                      <a:prstDash val="solid"/>
                      <a:round/>
                      <a:headEnd type="none" w="med" len="med"/>
                      <a:tailEnd type="none" w="med" len="med"/>
                    </a:lnT>
                    <a:lnB w="12700" cap="flat" cmpd="sng" algn="ctr">
                      <a:solidFill>
                        <a:srgbClr val="B1B5BC"/>
                      </a:solidFill>
                      <a:prstDash val="solid"/>
                      <a:round/>
                      <a:headEnd type="none" w="med" len="med"/>
                      <a:tailEnd type="none" w="med" len="med"/>
                    </a:lnB>
                    <a:solidFill>
                      <a:srgbClr val="DDE3EC"/>
                    </a:solidFill>
                  </a:tcPr>
                </a:tc>
                <a:extLst>
                  <a:ext uri="{0D108BD9-81ED-4DB2-BD59-A6C34878D82A}">
                    <a16:rowId xmlns:a16="http://schemas.microsoft.com/office/drawing/2014/main" val="10002"/>
                  </a:ext>
                </a:extLst>
              </a:tr>
              <a:tr h="383540">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Vitamin page</a:t>
                      </a:r>
                      <a:endParaRPr lang="en-US" sz="1400" dirty="0">
                        <a:latin typeface="DM Sans" charset="0"/>
                        <a:ea typeface="DM Sans" charset="0"/>
                        <a:cs typeface="DM Sans" charset="0"/>
                      </a:endParaRPr>
                    </a:p>
                  </a:txBody>
                  <a:tcPr marL="62230" marR="62230" marT="62230" marB="62230">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B1B5BC"/>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54.2%</a:t>
                      </a:r>
                      <a:endParaRPr lang="en-US" sz="1400" dirty="0">
                        <a:latin typeface="DM Sans" charset="0"/>
                        <a:ea typeface="DM Sans" charset="0"/>
                        <a:cs typeface="DM Sans" charset="0"/>
                      </a:endParaRPr>
                    </a:p>
                  </a:txBody>
                  <a:tcPr marL="62230" marR="62230" marT="62230" marB="62230">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B1B5BC"/>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c>
                  <a:txBody>
                    <a:bodyPr/>
                    <a:lstStyle/>
                    <a:p>
                      <a:pPr marL="0" indent="0" algn="r">
                        <a:lnSpc>
                          <a:spcPts val="1960"/>
                        </a:lnSpc>
                        <a:buNone/>
                      </a:pPr>
                      <a:r>
                        <a:rPr lang="en-US" sz="1400" dirty="0">
                          <a:solidFill>
                            <a:srgbClr val="14213D"/>
                          </a:solidFill>
                          <a:latin typeface="DM Sans" pitchFamily="34" charset="0"/>
                          <a:ea typeface="DM Sans" pitchFamily="34" charset="-122"/>
                          <a:cs typeface="DM Sans" pitchFamily="34" charset="-120"/>
                        </a:rPr>
                        <a:t>50%</a:t>
                      </a:r>
                      <a:endParaRPr lang="en-US" sz="1400" dirty="0">
                        <a:latin typeface="DM Sans" charset="0"/>
                        <a:ea typeface="DM Sans" charset="0"/>
                        <a:cs typeface="DM Sans" charset="0"/>
                      </a:endParaRPr>
                    </a:p>
                  </a:txBody>
                  <a:tcPr marL="62230" marR="62230" marT="62230" marB="62230">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B1B5BC"/>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tc>
                  <a:txBody>
                    <a:bodyPr/>
                    <a:lstStyle/>
                    <a:p>
                      <a:pPr marL="0" indent="0">
                        <a:lnSpc>
                          <a:spcPts val="1960"/>
                        </a:lnSpc>
                        <a:buNone/>
                      </a:pPr>
                      <a:r>
                        <a:rPr lang="en-US" sz="1400" dirty="0">
                          <a:solidFill>
                            <a:srgbClr val="14213D"/>
                          </a:solidFill>
                          <a:latin typeface="DM Sans" pitchFamily="34" charset="0"/>
                          <a:ea typeface="DM Sans" pitchFamily="34" charset="-122"/>
                          <a:cs typeface="DM Sans" pitchFamily="34" charset="-120"/>
                        </a:rPr>
                        <a:t>6–8 px print; every miss flagged</a:t>
                      </a:r>
                      <a:endParaRPr lang="en-US" sz="1400" dirty="0">
                        <a:latin typeface="DM Sans" charset="0"/>
                        <a:ea typeface="DM Sans" charset="0"/>
                        <a:cs typeface="DM Sans" charset="0"/>
                      </a:endParaRPr>
                    </a:p>
                  </a:txBody>
                  <a:tcPr marL="62230" marR="62230" marT="62230" marB="62230">
                    <a:lnL w="12700" cap="flat" cmpd="sng" algn="ctr">
                      <a:solidFill>
                        <a:srgbClr val="BBBEC3"/>
                      </a:solidFill>
                      <a:prstDash val="solid"/>
                      <a:round/>
                      <a:headEnd type="none" w="med" len="med"/>
                      <a:tailEnd type="none" w="med" len="med"/>
                    </a:lnL>
                    <a:lnR w="12700" cap="flat" cmpd="sng" algn="ctr">
                      <a:solidFill>
                        <a:srgbClr val="BBBEC3"/>
                      </a:solidFill>
                      <a:prstDash val="solid"/>
                      <a:round/>
                      <a:headEnd type="none" w="med" len="med"/>
                      <a:tailEnd type="none" w="med" len="med"/>
                    </a:lnR>
                    <a:lnT w="12700" cap="flat" cmpd="sng" algn="ctr">
                      <a:solidFill>
                        <a:srgbClr val="B1B5BC"/>
                      </a:solidFill>
                      <a:prstDash val="solid"/>
                      <a:round/>
                      <a:headEnd type="none" w="med" len="med"/>
                      <a:tailEnd type="none" w="med" len="med"/>
                    </a:lnT>
                    <a:lnB w="12700" cap="flat" cmpd="sng" algn="ctr">
                      <a:solidFill>
                        <a:srgbClr val="BBBEC3"/>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17" name="Text 14"/>
          <p:cNvSpPr/>
          <p:nvPr/>
        </p:nvSpPr>
        <p:spPr>
          <a:xfrm>
            <a:off x="812800" y="6238242"/>
            <a:ext cx="29727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6"/>
                </a:solidFill>
                <a:latin typeface="DM Sans" pitchFamily="34" charset="0"/>
                <a:ea typeface="DM Sans" pitchFamily="34" charset="-122"/>
                <a:cs typeface="DM Sans" pitchFamily="34" charset="-120"/>
              </a:rPr>
              <a:t>Lab Report OCR · YOLO + Tesseract</a:t>
            </a:r>
            <a:endParaRPr lang="en-US" sz="1200" dirty="0"/>
          </a:p>
        </p:txBody>
      </p:sp>
      <p:sp>
        <p:nvSpPr>
          <p:cNvPr id="18" name="Text 15"/>
          <p:cNvSpPr/>
          <p:nvPr/>
        </p:nvSpPr>
        <p:spPr>
          <a:xfrm>
            <a:off x="11176556" y="6238242"/>
            <a:ext cx="202644"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86"/>
                </a:solidFill>
                <a:latin typeface="DM Sans" pitchFamily="34" charset="0"/>
                <a:ea typeface="DM Sans" pitchFamily="34" charset="-122"/>
                <a:cs typeface="DM Sans" pitchFamily="34" charset="-120"/>
              </a:rPr>
              <a:t>10</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213D"/>
        </a:solidFill>
        <a:effectLst/>
      </p:bgPr>
    </p:bg>
    <p:spTree>
      <p:nvGrpSpPr>
        <p:cNvPr id="1" name=""/>
        <p:cNvGrpSpPr/>
        <p:nvPr/>
      </p:nvGrpSpPr>
      <p:grpSpPr>
        <a:xfrm>
          <a:off x="0" y="0"/>
          <a:ext cx="0" cy="0"/>
          <a:chOff x="0" y="0"/>
          <a:chExt cx="0" cy="0"/>
        </a:xfrm>
      </p:grpSpPr>
      <p:sp>
        <p:nvSpPr>
          <p:cNvPr id="2" name="Text 0"/>
          <p:cNvSpPr/>
          <p:nvPr/>
        </p:nvSpPr>
        <p:spPr>
          <a:xfrm>
            <a:off x="812800" y="1838964"/>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F0A060"/>
                </a:solidFill>
                <a:latin typeface="DM Sans" pitchFamily="34" charset="0"/>
                <a:ea typeface="DM Sans" pitchFamily="34" charset="-122"/>
                <a:cs typeface="DM Sans" pitchFamily="34" charset="-120"/>
              </a:rPr>
              <a:t>RESULTS · NO SILENT ERRORS</a:t>
            </a:r>
            <a:endParaRPr lang="en-US" sz="1200" dirty="0"/>
          </a:p>
        </p:txBody>
      </p:sp>
      <p:sp>
        <p:nvSpPr>
          <p:cNvPr id="3" name="Text 1"/>
          <p:cNvSpPr>
            <a:spLocks noGrp="1"/>
          </p:cNvSpPr>
          <p:nvPr>
            <p:ph type="title"/>
          </p:nvPr>
        </p:nvSpPr>
        <p:spPr>
          <a:xfrm>
            <a:off x="812800" y="2204721"/>
            <a:ext cx="10883392" cy="1305560"/>
          </a:xfrm>
          <a:prstGeom prst="rect">
            <a:avLst/>
          </a:prstGeom>
          <a:noFill/>
          <a:ln/>
        </p:spPr>
        <p:txBody>
          <a:bodyPr wrap="square" lIns="0" tIns="0" rIns="0" bIns="0" rtlCol="0" anchor="t">
            <a:normAutofit/>
          </a:bodyPr>
          <a:lstStyle/>
          <a:p>
            <a:pPr marL="0" indent="0" algn="l">
              <a:lnSpc>
                <a:spcPts val="5040"/>
              </a:lnSpc>
              <a:buNone/>
            </a:pPr>
            <a:r>
              <a:rPr lang="en-US" sz="4800" b="1" i="0" dirty="0">
                <a:solidFill>
                  <a:srgbClr val="F7F7F3"/>
                </a:solidFill>
                <a:latin typeface="Space Grotesk" pitchFamily="34" charset="0"/>
                <a:ea typeface="Space Grotesk" pitchFamily="34" charset="-122"/>
                <a:cs typeface="Space Grotesk" pitchFamily="34" charset="-120"/>
              </a:rPr>
              <a:t>18 of 19 wrong rows were flagged for a person</a:t>
            </a:r>
            <a:endParaRPr lang="en-US" sz="4800" dirty="0"/>
          </a:p>
        </p:txBody>
      </p:sp>
      <p:sp>
        <p:nvSpPr>
          <p:cNvPr id="4" name="Shape 2"/>
          <p:cNvSpPr/>
          <p:nvPr/>
        </p:nvSpPr>
        <p:spPr>
          <a:xfrm>
            <a:off x="812800" y="3850004"/>
            <a:ext cx="3386614" cy="0"/>
          </a:xfrm>
          <a:prstGeom prst="line">
            <a:avLst/>
          </a:prstGeom>
          <a:noFill/>
          <a:ln w="19050">
            <a:solidFill>
              <a:srgbClr val="8FB3F5"/>
            </a:solidFill>
            <a:prstDash val="solid"/>
          </a:ln>
        </p:spPr>
      </p:sp>
      <p:sp>
        <p:nvSpPr>
          <p:cNvPr id="5" name="Text 3"/>
          <p:cNvSpPr/>
          <p:nvPr/>
        </p:nvSpPr>
        <p:spPr>
          <a:xfrm>
            <a:off x="812800" y="4033521"/>
            <a:ext cx="3488212"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FB3F5"/>
                </a:solidFill>
                <a:latin typeface="Space Grotesk" pitchFamily="34" charset="0"/>
                <a:ea typeface="Space Grotesk" pitchFamily="34" charset="-122"/>
                <a:cs typeface="Space Grotesk" pitchFamily="34" charset="-120"/>
              </a:rPr>
              <a:t>Every misread value caught</a:t>
            </a:r>
            <a:endParaRPr lang="en-US" sz="1600" dirty="0"/>
          </a:p>
        </p:txBody>
      </p:sp>
      <p:sp>
        <p:nvSpPr>
          <p:cNvPr id="6" name="Text 4"/>
          <p:cNvSpPr/>
          <p:nvPr/>
        </p:nvSpPr>
        <p:spPr>
          <a:xfrm>
            <a:off x="812800" y="4353564"/>
            <a:ext cx="3488212"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4D6"/>
                </a:solidFill>
                <a:latin typeface="DM Sans" pitchFamily="34" charset="0"/>
                <a:ea typeface="DM Sans" pitchFamily="34" charset="-122"/>
                <a:cs typeface="DM Sans" pitchFamily="34" charset="-120"/>
              </a:rPr>
              <a:t>All 4 wrong values (551 read as 351, 21 as 2) were flagged for review</a:t>
            </a:r>
            <a:endParaRPr lang="en-US" sz="1300" dirty="0"/>
          </a:p>
        </p:txBody>
      </p:sp>
      <p:sp>
        <p:nvSpPr>
          <p:cNvPr id="7" name="Shape 5"/>
          <p:cNvSpPr/>
          <p:nvPr/>
        </p:nvSpPr>
        <p:spPr>
          <a:xfrm>
            <a:off x="4402614" y="3850004"/>
            <a:ext cx="3386693" cy="0"/>
          </a:xfrm>
          <a:prstGeom prst="line">
            <a:avLst/>
          </a:prstGeom>
          <a:noFill/>
          <a:ln w="19050">
            <a:solidFill>
              <a:srgbClr val="8FB3F5"/>
            </a:solidFill>
            <a:prstDash val="solid"/>
          </a:ln>
        </p:spPr>
      </p:sp>
      <p:sp>
        <p:nvSpPr>
          <p:cNvPr id="8" name="Text 6"/>
          <p:cNvSpPr/>
          <p:nvPr/>
        </p:nvSpPr>
        <p:spPr>
          <a:xfrm>
            <a:off x="4402614" y="4033521"/>
            <a:ext cx="348829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FB3F5"/>
                </a:solidFill>
                <a:latin typeface="Space Grotesk" pitchFamily="34" charset="0"/>
                <a:ea typeface="Space Grotesk" pitchFamily="34" charset="-122"/>
                <a:cs typeface="Space Grotesk" pitchFamily="34" charset="-120"/>
              </a:rPr>
              <a:t>One harmless escape</a:t>
            </a:r>
            <a:endParaRPr lang="en-US" sz="1600" dirty="0"/>
          </a:p>
        </p:txBody>
      </p:sp>
      <p:sp>
        <p:nvSpPr>
          <p:cNvPr id="9" name="Text 7"/>
          <p:cNvSpPr/>
          <p:nvPr/>
        </p:nvSpPr>
        <p:spPr>
          <a:xfrm>
            <a:off x="4402614" y="4353564"/>
            <a:ext cx="348829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4D6"/>
                </a:solidFill>
                <a:latin typeface="DM Sans" pitchFamily="34" charset="0"/>
                <a:ea typeface="DM Sans" pitchFamily="34" charset="-122"/>
                <a:cs typeface="DM Sans" pitchFamily="34" charset="-120"/>
              </a:rPr>
              <a:t>“PROTEIN - TOTAL” read as “PROTEIN - TOTAI”: one letter, value correct</a:t>
            </a:r>
            <a:endParaRPr lang="en-US" sz="1300" dirty="0"/>
          </a:p>
        </p:txBody>
      </p:sp>
      <p:sp>
        <p:nvSpPr>
          <p:cNvPr id="10" name="Shape 8"/>
          <p:cNvSpPr/>
          <p:nvPr/>
        </p:nvSpPr>
        <p:spPr>
          <a:xfrm>
            <a:off x="7992507" y="3850004"/>
            <a:ext cx="3386693" cy="0"/>
          </a:xfrm>
          <a:prstGeom prst="line">
            <a:avLst/>
          </a:prstGeom>
          <a:noFill/>
          <a:ln w="19050">
            <a:solidFill>
              <a:srgbClr val="8FB3F5"/>
            </a:solidFill>
            <a:prstDash val="solid"/>
          </a:ln>
        </p:spPr>
      </p:sp>
      <p:sp>
        <p:nvSpPr>
          <p:cNvPr id="11" name="Text 9"/>
          <p:cNvSpPr/>
          <p:nvPr/>
        </p:nvSpPr>
        <p:spPr>
          <a:xfrm>
            <a:off x="7992507" y="4033521"/>
            <a:ext cx="3488294" cy="269240"/>
          </a:xfrm>
          <a:prstGeom prst="rect">
            <a:avLst/>
          </a:prstGeom>
          <a:noFill/>
          <a:ln/>
        </p:spPr>
        <p:txBody>
          <a:bodyPr wrap="square" lIns="0" tIns="0" rIns="0" bIns="0" rtlCol="0" anchor="t">
            <a:normAutofit/>
          </a:bodyPr>
          <a:lstStyle/>
          <a:p>
            <a:pPr marL="0" indent="0" algn="l">
              <a:lnSpc>
                <a:spcPts val="1920"/>
              </a:lnSpc>
              <a:buNone/>
            </a:pPr>
            <a:r>
              <a:rPr lang="en-US" sz="1600" b="1" dirty="0">
                <a:solidFill>
                  <a:srgbClr val="8FB3F5"/>
                </a:solidFill>
                <a:latin typeface="Space Grotesk" pitchFamily="34" charset="0"/>
                <a:ea typeface="Space Grotesk" pitchFamily="34" charset="-122"/>
                <a:cs typeface="Space Grotesk" pitchFamily="34" charset="-120"/>
              </a:rPr>
              <a:t>What raises the flag</a:t>
            </a:r>
            <a:endParaRPr lang="en-US" sz="1600" dirty="0"/>
          </a:p>
        </p:txBody>
      </p:sp>
      <p:sp>
        <p:nvSpPr>
          <p:cNvPr id="12" name="Text 10"/>
          <p:cNvSpPr/>
          <p:nvPr/>
        </p:nvSpPr>
        <p:spPr>
          <a:xfrm>
            <a:off x="7992507" y="4353564"/>
            <a:ext cx="3488294" cy="48768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B9C4D6"/>
                </a:solidFill>
                <a:latin typeface="DM Sans" pitchFamily="34" charset="0"/>
                <a:ea typeface="DM Sans" pitchFamily="34" charset="-122"/>
                <a:cs typeface="DM Sans" pitchFamily="34" charset="-120"/>
              </a:rPr>
              <a:t>A missing field, a value that is not a number, or low detector or OCR confidence</a:t>
            </a:r>
            <a:endParaRPr lang="en-US" sz="1300" dirty="0"/>
          </a:p>
        </p:txBody>
      </p:sp>
      <p:sp>
        <p:nvSpPr>
          <p:cNvPr id="13" name="Text 11"/>
          <p:cNvSpPr/>
          <p:nvPr/>
        </p:nvSpPr>
        <p:spPr>
          <a:xfrm>
            <a:off x="812800" y="6238242"/>
            <a:ext cx="29727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8A97AD"/>
                </a:solidFill>
                <a:latin typeface="DM Sans" pitchFamily="34" charset="0"/>
                <a:ea typeface="DM Sans" pitchFamily="34" charset="-122"/>
                <a:cs typeface="DM Sans" pitchFamily="34" charset="-120"/>
              </a:rPr>
              <a:t>Lab Report OCR · YOLO + Tesseract</a:t>
            </a:r>
            <a:endParaRPr lang="en-US" sz="1200" dirty="0"/>
          </a:p>
        </p:txBody>
      </p:sp>
      <p:sp>
        <p:nvSpPr>
          <p:cNvPr id="14" name="Text 12"/>
          <p:cNvSpPr/>
          <p:nvPr/>
        </p:nvSpPr>
        <p:spPr>
          <a:xfrm>
            <a:off x="11233230" y="6238242"/>
            <a:ext cx="145971"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8A97AD"/>
                </a:solidFill>
                <a:latin typeface="DM Sans" pitchFamily="34" charset="0"/>
                <a:ea typeface="DM Sans" pitchFamily="34" charset="-122"/>
                <a:cs typeface="DM Sans" pitchFamily="34" charset="-120"/>
              </a:rPr>
              <a:t>11</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7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71A"/>
                </a:solidFill>
                <a:latin typeface="DM Sans" pitchFamily="34" charset="0"/>
                <a:ea typeface="DM Sans" pitchFamily="34" charset="-122"/>
                <a:cs typeface="DM Sans" pitchFamily="34" charset="-120"/>
              </a:rPr>
              <a:t>FUNCTIONALITY · WEB APP</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Upload a report, check the table, download</a:t>
            </a:r>
            <a:endParaRPr lang="en-US" sz="3200" dirty="0"/>
          </a:p>
        </p:txBody>
      </p:sp>
      <p:pic>
        <p:nvPicPr>
          <p:cNvPr id="4" name="Image 0" descr="The web app after reading a liver report: summary tiles, the annotated photo and an editable results table with review flags and confidence bars"/>
          <p:cNvPicPr>
            <a:picLocks noChangeAspect="1"/>
          </p:cNvPicPr>
          <p:nvPr/>
        </p:nvPicPr>
        <p:blipFill>
          <a:blip r:embed="rId3"/>
          <a:srcRect t="64" b="64"/>
          <a:stretch/>
        </p:blipFill>
        <p:spPr>
          <a:xfrm>
            <a:off x="819150" y="1835150"/>
            <a:ext cx="5981700" cy="3733800"/>
          </a:xfrm>
          <a:prstGeom prst="roundRect">
            <a:avLst>
              <a:gd name="adj" fmla="val 1871"/>
            </a:avLst>
          </a:prstGeom>
        </p:spPr>
      </p:pic>
      <p:sp>
        <p:nvSpPr>
          <p:cNvPr id="5" name="Shape 2"/>
          <p:cNvSpPr/>
          <p:nvPr/>
        </p:nvSpPr>
        <p:spPr>
          <a:xfrm>
            <a:off x="815975" y="1831975"/>
            <a:ext cx="5988050" cy="3740150"/>
          </a:xfrm>
          <a:prstGeom prst="roundRect">
            <a:avLst>
              <a:gd name="adj" fmla="val 1952"/>
            </a:avLst>
          </a:prstGeom>
          <a:noFill/>
          <a:ln w="6350">
            <a:solidFill>
              <a:srgbClr val="DCE1E8"/>
            </a:solidFill>
            <a:prstDash val="solid"/>
          </a:ln>
        </p:spPr>
      </p:sp>
      <p:sp>
        <p:nvSpPr>
          <p:cNvPr id="6" name="Text 3"/>
          <p:cNvSpPr/>
          <p:nvPr/>
        </p:nvSpPr>
        <p:spPr>
          <a:xfrm>
            <a:off x="7112000" y="1828800"/>
            <a:ext cx="439521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Drop in any report</a:t>
            </a:r>
            <a:endParaRPr lang="en-US" sz="1500" dirty="0"/>
          </a:p>
        </p:txBody>
      </p:sp>
      <p:sp>
        <p:nvSpPr>
          <p:cNvPr id="7" name="Text 4"/>
          <p:cNvSpPr/>
          <p:nvPr/>
        </p:nvSpPr>
        <p:spPr>
          <a:xfrm>
            <a:off x="7112000" y="2095500"/>
            <a:ext cx="439521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Photo or PDF, or one-click samples</a:t>
            </a:r>
            <a:endParaRPr lang="en-US" sz="1300" dirty="0"/>
          </a:p>
        </p:txBody>
      </p:sp>
      <p:sp>
        <p:nvSpPr>
          <p:cNvPr id="8" name="Text 5"/>
          <p:cNvSpPr/>
          <p:nvPr/>
        </p:nvSpPr>
        <p:spPr>
          <a:xfrm>
            <a:off x="7112000" y="2504442"/>
            <a:ext cx="439521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See what was found</a:t>
            </a:r>
            <a:endParaRPr lang="en-US" sz="1500" dirty="0"/>
          </a:p>
        </p:txBody>
      </p:sp>
      <p:sp>
        <p:nvSpPr>
          <p:cNvPr id="9" name="Text 6"/>
          <p:cNvSpPr/>
          <p:nvPr/>
        </p:nvSpPr>
        <p:spPr>
          <a:xfrm>
            <a:off x="7112000" y="2771142"/>
            <a:ext cx="439521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Fields boxed on the page; summary tiles</a:t>
            </a:r>
            <a:endParaRPr lang="en-US" sz="1300" dirty="0"/>
          </a:p>
        </p:txBody>
      </p:sp>
      <p:sp>
        <p:nvSpPr>
          <p:cNvPr id="10" name="Text 7"/>
          <p:cNvSpPr/>
          <p:nvPr/>
        </p:nvSpPr>
        <p:spPr>
          <a:xfrm>
            <a:off x="7112000" y="3180079"/>
            <a:ext cx="439521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Fix what is flagged</a:t>
            </a:r>
            <a:endParaRPr lang="en-US" sz="1500" dirty="0"/>
          </a:p>
        </p:txBody>
      </p:sp>
      <p:sp>
        <p:nvSpPr>
          <p:cNvPr id="11" name="Text 8"/>
          <p:cNvSpPr/>
          <p:nvPr/>
        </p:nvSpPr>
        <p:spPr>
          <a:xfrm>
            <a:off x="7112000" y="3446779"/>
            <a:ext cx="439521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Editable cells, reasons and confidence</a:t>
            </a:r>
            <a:endParaRPr lang="en-US" sz="1300" dirty="0"/>
          </a:p>
        </p:txBody>
      </p:sp>
      <p:sp>
        <p:nvSpPr>
          <p:cNvPr id="12" name="Text 9"/>
          <p:cNvSpPr/>
          <p:nvPr/>
        </p:nvSpPr>
        <p:spPr>
          <a:xfrm>
            <a:off x="7112000" y="3855721"/>
            <a:ext cx="4395216"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Download or integrate</a:t>
            </a:r>
            <a:endParaRPr lang="en-US" sz="1500" dirty="0"/>
          </a:p>
        </p:txBody>
      </p:sp>
      <p:sp>
        <p:nvSpPr>
          <p:cNvPr id="13" name="Text 10"/>
          <p:cNvSpPr/>
          <p:nvPr/>
        </p:nvSpPr>
        <p:spPr>
          <a:xfrm>
            <a:off x="7112000" y="4122421"/>
            <a:ext cx="4395216" cy="256540"/>
          </a:xfrm>
          <a:prstGeom prst="rect">
            <a:avLst/>
          </a:prstGeom>
          <a:noFill/>
          <a:ln/>
        </p:spPr>
        <p:txBody>
          <a:bodyPr wrap="square" lIns="0" tIns="0" rIns="0" bIns="0"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CSV / Excel with edits; JSON API</a:t>
            </a:r>
            <a:endParaRPr lang="en-US" sz="1300" dirty="0"/>
          </a:p>
        </p:txBody>
      </p:sp>
      <p:sp>
        <p:nvSpPr>
          <p:cNvPr id="14" name="Text 11"/>
          <p:cNvSpPr/>
          <p:nvPr/>
        </p:nvSpPr>
        <p:spPr>
          <a:xfrm>
            <a:off x="812800" y="6238242"/>
            <a:ext cx="29727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6"/>
                </a:solidFill>
                <a:latin typeface="DM Sans" pitchFamily="34" charset="0"/>
                <a:ea typeface="DM Sans" pitchFamily="34" charset="-122"/>
                <a:cs typeface="DM Sans" pitchFamily="34" charset="-120"/>
              </a:rPr>
              <a:t>Lab Report OCR · YOLO + Tesseract</a:t>
            </a:r>
            <a:endParaRPr lang="en-US" sz="1200" dirty="0"/>
          </a:p>
        </p:txBody>
      </p:sp>
      <p:sp>
        <p:nvSpPr>
          <p:cNvPr id="15" name="Text 12"/>
          <p:cNvSpPr/>
          <p:nvPr/>
        </p:nvSpPr>
        <p:spPr>
          <a:xfrm>
            <a:off x="11193066" y="6238242"/>
            <a:ext cx="186134"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86"/>
                </a:solidFill>
                <a:latin typeface="DM Sans" pitchFamily="34" charset="0"/>
                <a:ea typeface="DM Sans" pitchFamily="34" charset="-122"/>
                <a:cs typeface="DM Sans" pitchFamily="34" charset="-120"/>
              </a:rPr>
              <a:t>12</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7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71A"/>
                </a:solidFill>
                <a:latin typeface="DM Sans" pitchFamily="34" charset="0"/>
                <a:ea typeface="DM Sans" pitchFamily="34" charset="-122"/>
                <a:cs typeface="DM Sans" pitchFamily="34" charset="-120"/>
              </a:rPr>
              <a:t>FUNCTIONALITY · PDF INPUT</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Each kind of PDF is read its own way</a:t>
            </a:r>
            <a:endParaRPr lang="en-US" sz="3200" dirty="0"/>
          </a:p>
        </p:txBody>
      </p:sp>
      <p:sp>
        <p:nvSpPr>
          <p:cNvPr id="4" name="Shape 2"/>
          <p:cNvSpPr/>
          <p:nvPr/>
        </p:nvSpPr>
        <p:spPr>
          <a:xfrm>
            <a:off x="815975" y="1831975"/>
            <a:ext cx="4667250" cy="1014730"/>
          </a:xfrm>
          <a:prstGeom prst="roundRect">
            <a:avLst>
              <a:gd name="adj" fmla="val 7196"/>
            </a:avLst>
          </a:prstGeom>
          <a:solidFill>
            <a:srgbClr val="FDFDFB"/>
          </a:solidFill>
          <a:ln w="6350">
            <a:solidFill>
              <a:srgbClr val="DCE1E8"/>
            </a:solidFill>
            <a:prstDash val="solid"/>
          </a:ln>
        </p:spPr>
      </p:sp>
      <p:sp>
        <p:nvSpPr>
          <p:cNvPr id="5" name="Text 3"/>
          <p:cNvSpPr/>
          <p:nvPr/>
        </p:nvSpPr>
        <p:spPr>
          <a:xfrm>
            <a:off x="995680" y="1986279"/>
            <a:ext cx="44370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Scanned PDF</a:t>
            </a:r>
            <a:endParaRPr lang="en-US" sz="1500" dirty="0"/>
          </a:p>
        </p:txBody>
      </p:sp>
      <p:sp>
        <p:nvSpPr>
          <p:cNvPr id="6" name="Text 4"/>
          <p:cNvSpPr/>
          <p:nvPr/>
        </p:nvSpPr>
        <p:spPr>
          <a:xfrm>
            <a:off x="995680" y="2265679"/>
            <a:ext cx="443707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Rendered at the scan’s own resolution, then OCR. Multi-page: same results as photos.</a:t>
            </a:r>
            <a:endParaRPr lang="en-US" sz="1200" dirty="0"/>
          </a:p>
        </p:txBody>
      </p:sp>
      <p:sp>
        <p:nvSpPr>
          <p:cNvPr id="7" name="Shape 5"/>
          <p:cNvSpPr/>
          <p:nvPr/>
        </p:nvSpPr>
        <p:spPr>
          <a:xfrm>
            <a:off x="815975" y="2980054"/>
            <a:ext cx="4667250" cy="1014730"/>
          </a:xfrm>
          <a:prstGeom prst="roundRect">
            <a:avLst>
              <a:gd name="adj" fmla="val 7196"/>
            </a:avLst>
          </a:prstGeom>
          <a:solidFill>
            <a:srgbClr val="FDFDFB"/>
          </a:solidFill>
          <a:ln w="6350">
            <a:solidFill>
              <a:srgbClr val="DCE1E8"/>
            </a:solidFill>
            <a:prstDash val="solid"/>
          </a:ln>
        </p:spPr>
      </p:sp>
      <p:sp>
        <p:nvSpPr>
          <p:cNvPr id="8" name="Text 6"/>
          <p:cNvSpPr/>
          <p:nvPr/>
        </p:nvSpPr>
        <p:spPr>
          <a:xfrm>
            <a:off x="995680" y="3134364"/>
            <a:ext cx="44370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Searchable scan</a:t>
            </a:r>
            <a:endParaRPr lang="en-US" sz="1500" dirty="0"/>
          </a:p>
        </p:txBody>
      </p:sp>
      <p:sp>
        <p:nvSpPr>
          <p:cNvPr id="9" name="Text 7"/>
          <p:cNvSpPr/>
          <p:nvPr/>
        </p:nvSpPr>
        <p:spPr>
          <a:xfrm>
            <a:off x="995680" y="3413764"/>
            <a:ext cx="443707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Its hidden OCR layer is ignored; our field-level OCR is more accurate.</a:t>
            </a:r>
            <a:endParaRPr lang="en-US" sz="1200" dirty="0"/>
          </a:p>
        </p:txBody>
      </p:sp>
      <p:sp>
        <p:nvSpPr>
          <p:cNvPr id="10" name="Shape 8"/>
          <p:cNvSpPr/>
          <p:nvPr/>
        </p:nvSpPr>
        <p:spPr>
          <a:xfrm>
            <a:off x="815975" y="4128139"/>
            <a:ext cx="4667250" cy="1014730"/>
          </a:xfrm>
          <a:prstGeom prst="roundRect">
            <a:avLst>
              <a:gd name="adj" fmla="val 7196"/>
            </a:avLst>
          </a:prstGeom>
          <a:solidFill>
            <a:srgbClr val="FDFDFB"/>
          </a:solidFill>
          <a:ln w="6350">
            <a:solidFill>
              <a:srgbClr val="DCE1E8"/>
            </a:solidFill>
            <a:prstDash val="solid"/>
          </a:ln>
        </p:spPr>
      </p:sp>
      <p:sp>
        <p:nvSpPr>
          <p:cNvPr id="11" name="Text 9"/>
          <p:cNvSpPr/>
          <p:nvPr/>
        </p:nvSpPr>
        <p:spPr>
          <a:xfrm>
            <a:off x="995680" y="4282442"/>
            <a:ext cx="4437075"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Digital PDF</a:t>
            </a:r>
            <a:endParaRPr lang="en-US" sz="1500" dirty="0"/>
          </a:p>
        </p:txBody>
      </p:sp>
      <p:sp>
        <p:nvSpPr>
          <p:cNvPr id="12" name="Text 10"/>
          <p:cNvSpPr/>
          <p:nvPr/>
        </p:nvSpPr>
        <p:spPr>
          <a:xfrm>
            <a:off x="995680" y="4561842"/>
            <a:ext cx="4437075" cy="45212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Fields read from the PDF’s text layer: 44 of 44 exact, vs 42 via OCR.</a:t>
            </a:r>
            <a:endParaRPr lang="en-US" sz="1200" dirty="0"/>
          </a:p>
        </p:txBody>
      </p:sp>
      <p:pic>
        <p:nvPicPr>
          <p:cNvPr id="13" name="Image 0" descr="The web app reading a digital PDF: a green Digital PDF text layer badge, 11 tests, none needing review, every row marked TEXT"/>
          <p:cNvPicPr>
            <a:picLocks noChangeAspect="1"/>
          </p:cNvPicPr>
          <p:nvPr/>
        </p:nvPicPr>
        <p:blipFill>
          <a:blip r:embed="rId3"/>
          <a:srcRect t="68" b="68"/>
          <a:stretch/>
        </p:blipFill>
        <p:spPr>
          <a:xfrm>
            <a:off x="5797550" y="1835150"/>
            <a:ext cx="5575300" cy="3479800"/>
          </a:xfrm>
          <a:prstGeom prst="roundRect">
            <a:avLst>
              <a:gd name="adj" fmla="val 2007"/>
            </a:avLst>
          </a:prstGeom>
        </p:spPr>
      </p:pic>
      <p:sp>
        <p:nvSpPr>
          <p:cNvPr id="14" name="Shape 11"/>
          <p:cNvSpPr/>
          <p:nvPr/>
        </p:nvSpPr>
        <p:spPr>
          <a:xfrm>
            <a:off x="5794375" y="1831975"/>
            <a:ext cx="5581650" cy="3486150"/>
          </a:xfrm>
          <a:prstGeom prst="roundRect">
            <a:avLst>
              <a:gd name="adj" fmla="val 2095"/>
            </a:avLst>
          </a:prstGeom>
          <a:noFill/>
          <a:ln w="6350">
            <a:solidFill>
              <a:srgbClr val="DCE1E8"/>
            </a:solidFill>
            <a:prstDash val="solid"/>
          </a:ln>
        </p:spPr>
      </p:sp>
      <p:sp>
        <p:nvSpPr>
          <p:cNvPr id="15" name="Text 12"/>
          <p:cNvSpPr/>
          <p:nvPr/>
        </p:nvSpPr>
        <p:spPr>
          <a:xfrm>
            <a:off x="812800" y="6238242"/>
            <a:ext cx="29727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6"/>
                </a:solidFill>
                <a:latin typeface="DM Sans" pitchFamily="34" charset="0"/>
                <a:ea typeface="DM Sans" pitchFamily="34" charset="-122"/>
                <a:cs typeface="DM Sans" pitchFamily="34" charset="-120"/>
              </a:rPr>
              <a:t>Lab Report OCR · YOLO + Tesseract</a:t>
            </a:r>
            <a:endParaRPr lang="en-US" sz="1200" dirty="0"/>
          </a:p>
        </p:txBody>
      </p:sp>
      <p:sp>
        <p:nvSpPr>
          <p:cNvPr id="16" name="Text 13"/>
          <p:cNvSpPr/>
          <p:nvPr/>
        </p:nvSpPr>
        <p:spPr>
          <a:xfrm>
            <a:off x="11190764" y="6238242"/>
            <a:ext cx="188436"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86"/>
                </a:solidFill>
                <a:latin typeface="DM Sans" pitchFamily="34" charset="0"/>
                <a:ea typeface="DM Sans" pitchFamily="34" charset="-122"/>
                <a:cs typeface="DM Sans" pitchFamily="34" charset="-120"/>
              </a:rPr>
              <a:t>13</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AEEF4"/>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71A"/>
                </a:solidFill>
                <a:latin typeface="DM Sans" pitchFamily="34" charset="0"/>
                <a:ea typeface="DM Sans" pitchFamily="34" charset="-122"/>
                <a:cs typeface="DM Sans" pitchFamily="34" charset="-120"/>
              </a:rPr>
              <a:t>FUNCTIONALITY · DEPLOYMENT AND AWS</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One Docker image, four ways to run</a:t>
            </a:r>
            <a:endParaRPr lang="en-US" sz="3200" dirty="0"/>
          </a:p>
        </p:txBody>
      </p:sp>
      <p:sp>
        <p:nvSpPr>
          <p:cNvPr id="4" name="Shape 2"/>
          <p:cNvSpPr/>
          <p:nvPr/>
        </p:nvSpPr>
        <p:spPr>
          <a:xfrm>
            <a:off x="812800" y="1828800"/>
            <a:ext cx="5207000" cy="899160"/>
          </a:xfrm>
          <a:prstGeom prst="roundRect">
            <a:avLst>
              <a:gd name="adj" fmla="val 11299"/>
            </a:avLst>
          </a:prstGeom>
          <a:solidFill>
            <a:srgbClr val="FDFDFB"/>
          </a:solidFill>
          <a:ln/>
        </p:spPr>
      </p:sp>
      <p:pic>
        <p:nvPicPr>
          <p:cNvPr id="5" name="Image 0" descr="Globe"/>
          <p:cNvPicPr>
            <a:picLocks noChangeAspect="1"/>
          </p:cNvPicPr>
          <p:nvPr/>
        </p:nvPicPr>
        <p:blipFill>
          <a:blip r:embed="rId3"/>
          <a:srcRect/>
          <a:stretch/>
        </p:blipFill>
        <p:spPr>
          <a:xfrm>
            <a:off x="1016000" y="2032000"/>
            <a:ext cx="304800" cy="304800"/>
          </a:xfrm>
          <a:prstGeom prst="rect">
            <a:avLst/>
          </a:prstGeom>
        </p:spPr>
      </p:pic>
      <p:sp>
        <p:nvSpPr>
          <p:cNvPr id="6" name="Text 3"/>
          <p:cNvSpPr/>
          <p:nvPr/>
        </p:nvSpPr>
        <p:spPr>
          <a:xfrm>
            <a:off x="1473200" y="2032000"/>
            <a:ext cx="447370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Web app + API</a:t>
            </a:r>
            <a:endParaRPr lang="en-US" sz="1500" dirty="0"/>
          </a:p>
        </p:txBody>
      </p:sp>
      <p:sp>
        <p:nvSpPr>
          <p:cNvPr id="7" name="Text 4"/>
          <p:cNvSpPr/>
          <p:nvPr/>
        </p:nvSpPr>
        <p:spPr>
          <a:xfrm>
            <a:off x="1473200" y="2311400"/>
            <a:ext cx="447370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docker run custom-ocr serve, on a laptop or any server</a:t>
            </a:r>
            <a:endParaRPr lang="en-US" sz="1200" dirty="0"/>
          </a:p>
        </p:txBody>
      </p:sp>
      <p:sp>
        <p:nvSpPr>
          <p:cNvPr id="8" name="Shape 5"/>
          <p:cNvSpPr/>
          <p:nvPr/>
        </p:nvSpPr>
        <p:spPr>
          <a:xfrm>
            <a:off x="6172200" y="1828800"/>
            <a:ext cx="5207000" cy="899160"/>
          </a:xfrm>
          <a:prstGeom prst="roundRect">
            <a:avLst>
              <a:gd name="adj" fmla="val 11299"/>
            </a:avLst>
          </a:prstGeom>
          <a:solidFill>
            <a:srgbClr val="FDFDFB"/>
          </a:solidFill>
          <a:ln/>
        </p:spPr>
      </p:sp>
      <p:pic>
        <p:nvPicPr>
          <p:cNvPr id="9" name="Image 1" descr="Cloud"/>
          <p:cNvPicPr>
            <a:picLocks noChangeAspect="1"/>
          </p:cNvPicPr>
          <p:nvPr/>
        </p:nvPicPr>
        <p:blipFill>
          <a:blip r:embed="rId4"/>
          <a:srcRect/>
          <a:stretch/>
        </p:blipFill>
        <p:spPr>
          <a:xfrm>
            <a:off x="6375400" y="2032000"/>
            <a:ext cx="304800" cy="304800"/>
          </a:xfrm>
          <a:prstGeom prst="rect">
            <a:avLst/>
          </a:prstGeom>
        </p:spPr>
      </p:pic>
      <p:sp>
        <p:nvSpPr>
          <p:cNvPr id="10" name="Text 6"/>
          <p:cNvSpPr/>
          <p:nvPr/>
        </p:nvSpPr>
        <p:spPr>
          <a:xfrm>
            <a:off x="6832600" y="2032000"/>
            <a:ext cx="447370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SageMaker endpoint</a:t>
            </a:r>
            <a:endParaRPr lang="en-US" sz="1500" dirty="0"/>
          </a:p>
        </p:txBody>
      </p:sp>
      <p:sp>
        <p:nvSpPr>
          <p:cNvPr id="11" name="Text 7"/>
          <p:cNvSpPr/>
          <p:nvPr/>
        </p:nvSpPr>
        <p:spPr>
          <a:xfrm>
            <a:off x="6832600" y="2311400"/>
            <a:ext cx="447370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Serverless: answers /ping and /invocations, $0 when idle</a:t>
            </a:r>
            <a:endParaRPr lang="en-US" sz="1200" dirty="0"/>
          </a:p>
        </p:txBody>
      </p:sp>
      <p:sp>
        <p:nvSpPr>
          <p:cNvPr id="12" name="Shape 8"/>
          <p:cNvSpPr/>
          <p:nvPr/>
        </p:nvSpPr>
        <p:spPr>
          <a:xfrm>
            <a:off x="812800" y="2880364"/>
            <a:ext cx="5207000" cy="899160"/>
          </a:xfrm>
          <a:prstGeom prst="roundRect">
            <a:avLst>
              <a:gd name="adj" fmla="val 11299"/>
            </a:avLst>
          </a:prstGeom>
          <a:solidFill>
            <a:srgbClr val="FDFDFB"/>
          </a:solidFill>
          <a:ln/>
        </p:spPr>
      </p:sp>
      <p:pic>
        <p:nvPicPr>
          <p:cNvPr id="13" name="Image 2" descr="Lightning"/>
          <p:cNvPicPr>
            <a:picLocks noChangeAspect="1"/>
          </p:cNvPicPr>
          <p:nvPr/>
        </p:nvPicPr>
        <p:blipFill>
          <a:blip r:embed="rId5"/>
          <a:srcRect/>
          <a:stretch/>
        </p:blipFill>
        <p:spPr>
          <a:xfrm>
            <a:off x="1016000" y="3083564"/>
            <a:ext cx="304800" cy="304800"/>
          </a:xfrm>
          <a:prstGeom prst="rect">
            <a:avLst/>
          </a:prstGeom>
        </p:spPr>
      </p:pic>
      <p:sp>
        <p:nvSpPr>
          <p:cNvPr id="14" name="Text 9"/>
          <p:cNvSpPr/>
          <p:nvPr/>
        </p:nvSpPr>
        <p:spPr>
          <a:xfrm>
            <a:off x="1473200" y="3083564"/>
            <a:ext cx="447370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SageMaker training job</a:t>
            </a:r>
            <a:endParaRPr lang="en-US" sz="1500" dirty="0"/>
          </a:p>
        </p:txBody>
      </p:sp>
      <p:sp>
        <p:nvSpPr>
          <p:cNvPr id="15" name="Text 10"/>
          <p:cNvSpPr/>
          <p:nvPr/>
        </p:nvSpPr>
        <p:spPr>
          <a:xfrm>
            <a:off x="1473200" y="3362964"/>
            <a:ext cx="447370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Spot GPU reads data from S3, writes model.tar.gz back</a:t>
            </a:r>
            <a:endParaRPr lang="en-US" sz="1200" dirty="0"/>
          </a:p>
        </p:txBody>
      </p:sp>
      <p:sp>
        <p:nvSpPr>
          <p:cNvPr id="16" name="Shape 11"/>
          <p:cNvSpPr/>
          <p:nvPr/>
        </p:nvSpPr>
        <p:spPr>
          <a:xfrm>
            <a:off x="6172200" y="2880364"/>
            <a:ext cx="5207000" cy="899160"/>
          </a:xfrm>
          <a:prstGeom prst="roundRect">
            <a:avLst>
              <a:gd name="adj" fmla="val 11299"/>
            </a:avLst>
          </a:prstGeom>
          <a:solidFill>
            <a:srgbClr val="FDFDFB"/>
          </a:solidFill>
          <a:ln/>
        </p:spPr>
      </p:sp>
      <p:pic>
        <p:nvPicPr>
          <p:cNvPr id="17" name="Image 3" descr="Database"/>
          <p:cNvPicPr>
            <a:picLocks noChangeAspect="1"/>
          </p:cNvPicPr>
          <p:nvPr/>
        </p:nvPicPr>
        <p:blipFill>
          <a:blip r:embed="rId6"/>
          <a:srcRect/>
          <a:stretch/>
        </p:blipFill>
        <p:spPr>
          <a:xfrm>
            <a:off x="6375400" y="3083564"/>
            <a:ext cx="304800" cy="304800"/>
          </a:xfrm>
          <a:prstGeom prst="rect">
            <a:avLst/>
          </a:prstGeom>
        </p:spPr>
      </p:pic>
      <p:sp>
        <p:nvSpPr>
          <p:cNvPr id="18" name="Text 12"/>
          <p:cNvSpPr/>
          <p:nvPr/>
        </p:nvSpPr>
        <p:spPr>
          <a:xfrm>
            <a:off x="6832600" y="3083564"/>
            <a:ext cx="4473702" cy="254000"/>
          </a:xfrm>
          <a:prstGeom prst="rect">
            <a:avLst/>
          </a:prstGeom>
          <a:noFill/>
          <a:ln/>
        </p:spPr>
        <p:txBody>
          <a:bodyPr wrap="square" lIns="0" tIns="0" rIns="0" bIns="0" rtlCol="0" anchor="t">
            <a:normAutofit/>
          </a:bodyPr>
          <a:lstStyle/>
          <a:p>
            <a:pPr marL="0" indent="0" algn="l">
              <a:lnSpc>
                <a:spcPts val="1800"/>
              </a:lnSpc>
              <a:buNone/>
            </a:pPr>
            <a:r>
              <a:rPr lang="en-US" sz="1500" b="1" dirty="0">
                <a:solidFill>
                  <a:srgbClr val="14213D"/>
                </a:solidFill>
                <a:latin typeface="Space Grotesk" pitchFamily="34" charset="0"/>
                <a:ea typeface="Space Grotesk" pitchFamily="34" charset="-122"/>
                <a:cs typeface="Space Grotesk" pitchFamily="34" charset="-120"/>
              </a:rPr>
              <a:t>Batch processing job</a:t>
            </a:r>
            <a:endParaRPr lang="en-US" sz="1500" dirty="0"/>
          </a:p>
        </p:txBody>
      </p:sp>
      <p:sp>
        <p:nvSpPr>
          <p:cNvPr id="19" name="Text 13"/>
          <p:cNvSpPr/>
          <p:nvPr/>
        </p:nvSpPr>
        <p:spPr>
          <a:xfrm>
            <a:off x="6832600" y="3362964"/>
            <a:ext cx="4473702"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4A5568"/>
                </a:solidFill>
                <a:latin typeface="DM Sans" pitchFamily="34" charset="0"/>
                <a:ea typeface="DM Sans" pitchFamily="34" charset="-122"/>
                <a:cs typeface="DM Sans" pitchFamily="34" charset="-120"/>
              </a:rPr>
              <a:t>Every report in an S3 folder becomes CSV + Excel</a:t>
            </a:r>
            <a:endParaRPr lang="en-US" sz="1200" dirty="0"/>
          </a:p>
        </p:txBody>
      </p:sp>
      <p:sp>
        <p:nvSpPr>
          <p:cNvPr id="20" name="Text 14"/>
          <p:cNvSpPr/>
          <p:nvPr/>
        </p:nvSpPr>
        <p:spPr>
          <a:xfrm>
            <a:off x="812800" y="4033521"/>
            <a:ext cx="5207000" cy="485140"/>
          </a:xfrm>
          <a:prstGeom prst="roundRect">
            <a:avLst>
              <a:gd name="adj" fmla="val 15707"/>
            </a:avLst>
          </a:prstGeom>
          <a:solidFill>
            <a:srgbClr val="14213D"/>
          </a:solidFill>
          <a:ln/>
        </p:spPr>
        <p:txBody>
          <a:bodyPr wrap="square" lIns="155482" tIns="104682" rIns="9940" bIns="79282" rtlCol="0" anchor="t">
            <a:normAutofit/>
          </a:bodyPr>
          <a:lstStyle/>
          <a:p>
            <a:pPr marL="0" indent="0" algn="l">
              <a:lnSpc>
                <a:spcPts val="1820"/>
              </a:lnSpc>
              <a:buNone/>
            </a:pPr>
            <a:r>
              <a:rPr lang="en-US" sz="1300" b="1" dirty="0">
                <a:solidFill>
                  <a:srgbClr val="F7F7F3"/>
                </a:solidFill>
                <a:latin typeface="DM Sans" pitchFamily="34" charset="0"/>
                <a:ea typeface="DM Sans" pitchFamily="34" charset="-122"/>
                <a:cs typeface="DM Sans" pitchFamily="34" charset="-120"/>
              </a:rPr>
              <a:t>Cost:</a:t>
            </a:r>
            <a:r>
              <a:rPr lang="en-US" sz="1300" dirty="0">
                <a:solidFill>
                  <a:srgbClr val="F7F7F3"/>
                </a:solidFill>
                <a:latin typeface="DM Sans" pitchFamily="34" charset="0"/>
                <a:ea typeface="DM Sans" pitchFamily="34" charset="-122"/>
                <a:cs typeface="DM Sans" pitchFamily="34" charset="-120"/>
              </a:rPr>
              <a:t> $0 on Colab + Drive; well under $1 on AWS</a:t>
            </a:r>
            <a:endParaRPr lang="en-US" sz="1300" dirty="0"/>
          </a:p>
        </p:txBody>
      </p:sp>
      <p:sp>
        <p:nvSpPr>
          <p:cNvPr id="21" name="Text 15"/>
          <p:cNvSpPr/>
          <p:nvPr/>
        </p:nvSpPr>
        <p:spPr>
          <a:xfrm>
            <a:off x="6172200" y="4033521"/>
            <a:ext cx="5207000" cy="485140"/>
          </a:xfrm>
          <a:prstGeom prst="roundRect">
            <a:avLst>
              <a:gd name="adj" fmla="val 15707"/>
            </a:avLst>
          </a:prstGeom>
          <a:solidFill>
            <a:srgbClr val="FDFDFB"/>
          </a:solidFill>
          <a:ln/>
        </p:spPr>
        <p:txBody>
          <a:bodyPr wrap="square" lIns="155482" tIns="104682" rIns="9940" bIns="79282" rtlCol="0" anchor="t">
            <a:normAutofit/>
          </a:bodyPr>
          <a:lstStyle/>
          <a:p>
            <a:pPr marL="0" indent="0" algn="l">
              <a:lnSpc>
                <a:spcPts val="1820"/>
              </a:lnSpc>
              <a:buNone/>
            </a:pPr>
            <a:r>
              <a:rPr lang="en-US" sz="1300" dirty="0">
                <a:solidFill>
                  <a:srgbClr val="4A5568"/>
                </a:solidFill>
                <a:latin typeface="DM Sans" pitchFamily="34" charset="0"/>
                <a:ea typeface="DM Sans" pitchFamily="34" charset="-122"/>
                <a:cs typeface="DM Sans" pitchFamily="34" charset="-120"/>
              </a:rPr>
              <a:t>AWS scripts tested offline, not yet on a live account</a:t>
            </a:r>
            <a:endParaRPr lang="en-US" sz="1300" dirty="0"/>
          </a:p>
        </p:txBody>
      </p:sp>
      <p:sp>
        <p:nvSpPr>
          <p:cNvPr id="22" name="Text 16"/>
          <p:cNvSpPr/>
          <p:nvPr/>
        </p:nvSpPr>
        <p:spPr>
          <a:xfrm>
            <a:off x="812800" y="6238242"/>
            <a:ext cx="2972753"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6B7586"/>
                </a:solidFill>
                <a:latin typeface="DM Sans" pitchFamily="34" charset="0"/>
                <a:ea typeface="DM Sans" pitchFamily="34" charset="-122"/>
                <a:cs typeface="DM Sans" pitchFamily="34" charset="-120"/>
              </a:rPr>
              <a:t>Lab Report OCR · YOLO + Tesseract</a:t>
            </a:r>
            <a:endParaRPr lang="en-US" sz="1200" dirty="0"/>
          </a:p>
        </p:txBody>
      </p:sp>
      <p:sp>
        <p:nvSpPr>
          <p:cNvPr id="23" name="Text 17"/>
          <p:cNvSpPr/>
          <p:nvPr/>
        </p:nvSpPr>
        <p:spPr>
          <a:xfrm>
            <a:off x="11188303" y="6238242"/>
            <a:ext cx="190897"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86"/>
                </a:solidFill>
                <a:latin typeface="DM Sans" pitchFamily="34" charset="0"/>
                <a:ea typeface="DM Sans" pitchFamily="34" charset="-122"/>
                <a:cs typeface="DM Sans" pitchFamily="34" charset="-120"/>
              </a:rPr>
              <a:t>14</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7F3"/>
        </a:solidFill>
        <a:effectLst/>
      </p:bgPr>
    </p:bg>
    <p:spTree>
      <p:nvGrpSpPr>
        <p:cNvPr id="1" name=""/>
        <p:cNvGrpSpPr/>
        <p:nvPr/>
      </p:nvGrpSpPr>
      <p:grpSpPr>
        <a:xfrm>
          <a:off x="0" y="0"/>
          <a:ext cx="0" cy="0"/>
          <a:chOff x="0" y="0"/>
          <a:chExt cx="0" cy="0"/>
        </a:xfrm>
      </p:grpSpPr>
      <p:sp>
        <p:nvSpPr>
          <p:cNvPr id="2" name="Text 0"/>
          <p:cNvSpPr/>
          <p:nvPr/>
        </p:nvSpPr>
        <p:spPr>
          <a:xfrm>
            <a:off x="812800" y="812800"/>
            <a:ext cx="10883392" cy="238760"/>
          </a:xfrm>
          <a:prstGeom prst="rect">
            <a:avLst/>
          </a:prstGeom>
          <a:noFill/>
          <a:ln/>
        </p:spPr>
        <p:txBody>
          <a:bodyPr wrap="square" lIns="0" tIns="0" rIns="0" bIns="0" rtlCol="0" anchor="t">
            <a:normAutofit/>
          </a:bodyPr>
          <a:lstStyle/>
          <a:p>
            <a:pPr marL="0" indent="0" algn="l">
              <a:lnSpc>
                <a:spcPts val="1680"/>
              </a:lnSpc>
              <a:buNone/>
            </a:pPr>
            <a:r>
              <a:rPr lang="en-US" sz="1200" b="1" kern="0" spc="150" dirty="0">
                <a:solidFill>
                  <a:srgbClr val="B8571A"/>
                </a:solidFill>
                <a:latin typeface="DM Sans" pitchFamily="34" charset="0"/>
                <a:ea typeface="DM Sans" pitchFamily="34" charset="-122"/>
                <a:cs typeface="DM Sans" pitchFamily="34" charset="-120"/>
              </a:rPr>
              <a:t>SCOPE AHEAD</a:t>
            </a:r>
            <a:endParaRPr lang="en-US" sz="1200" dirty="0"/>
          </a:p>
        </p:txBody>
      </p:sp>
      <p:sp>
        <p:nvSpPr>
          <p:cNvPr id="3" name="Text 1"/>
          <p:cNvSpPr>
            <a:spLocks noGrp="1"/>
          </p:cNvSpPr>
          <p:nvPr>
            <p:ph type="title"/>
          </p:nvPr>
        </p:nvSpPr>
        <p:spPr>
          <a:xfrm>
            <a:off x="812800" y="1127764"/>
            <a:ext cx="10883392" cy="472440"/>
          </a:xfrm>
          <a:prstGeom prst="rect">
            <a:avLst/>
          </a:prstGeom>
          <a:noFill/>
          <a:ln/>
        </p:spPr>
        <p:txBody>
          <a:bodyPr wrap="square" lIns="0" tIns="0" rIns="0" bIns="0" rtlCol="0" anchor="t">
            <a:normAutofit/>
          </a:bodyPr>
          <a:lstStyle/>
          <a:p>
            <a:pPr marL="0" indent="0" algn="l">
              <a:lnSpc>
                <a:spcPts val="3520"/>
              </a:lnSpc>
              <a:buNone/>
            </a:pPr>
            <a:r>
              <a:rPr lang="en-US" sz="3200" b="1" i="0" dirty="0">
                <a:solidFill>
                  <a:srgbClr val="14213D"/>
                </a:solidFill>
                <a:latin typeface="Space Grotesk" pitchFamily="34" charset="0"/>
                <a:ea typeface="Space Grotesk" pitchFamily="34" charset="-122"/>
                <a:cs typeface="Space Grotesk" pitchFamily="34" charset="-120"/>
              </a:rPr>
              <a:t>Where it stops today, and what comes next</a:t>
            </a:r>
            <a:endParaRPr lang="en-US" sz="3200" dirty="0"/>
          </a:p>
        </p:txBody>
      </p:sp>
      <p:sp>
        <p:nvSpPr>
          <p:cNvPr id="4" name="Shape 2"/>
          <p:cNvSpPr/>
          <p:nvPr/>
        </p:nvSpPr>
        <p:spPr>
          <a:xfrm>
            <a:off x="815975" y="1882775"/>
            <a:ext cx="5175250" cy="1944370"/>
          </a:xfrm>
          <a:prstGeom prst="roundRect">
            <a:avLst>
              <a:gd name="adj" fmla="val 5062"/>
            </a:avLst>
          </a:prstGeom>
          <a:solidFill>
            <a:srgbClr val="FDFDFB"/>
          </a:solidFill>
          <a:ln w="6350">
            <a:solidFill>
              <a:srgbClr val="DCE1E8"/>
            </a:solidFill>
            <a:prstDash val="solid"/>
          </a:ln>
        </p:spPr>
      </p:sp>
      <p:sp>
        <p:nvSpPr>
          <p:cNvPr id="5" name="Text 3"/>
          <p:cNvSpPr/>
          <p:nvPr/>
        </p:nvSpPr>
        <p:spPr>
          <a:xfrm>
            <a:off x="1071880" y="2138679"/>
            <a:ext cx="480334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B8571A"/>
                </a:solidFill>
                <a:latin typeface="Space Grotesk" pitchFamily="34" charset="0"/>
                <a:ea typeface="Space Grotesk" pitchFamily="34" charset="-122"/>
                <a:cs typeface="Space Grotesk" pitchFamily="34" charset="-120"/>
              </a:rPr>
              <a:t>Limits</a:t>
            </a:r>
            <a:endParaRPr lang="en-US" sz="1800" dirty="0"/>
          </a:p>
        </p:txBody>
      </p:sp>
      <p:sp>
        <p:nvSpPr>
          <p:cNvPr id="6" name="Text 4"/>
          <p:cNvSpPr/>
          <p:nvPr/>
        </p:nvSpPr>
        <p:spPr>
          <a:xfrm>
            <a:off x="1156462" y="2540000"/>
            <a:ext cx="4711141" cy="1056640"/>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Knows 3 report designs only</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Small test set: 14 photos, 222 fields</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Tesseract struggles on 6–8 px print</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AWS path not yet run on a live account</a:t>
            </a:r>
            <a:endParaRPr lang="en-US" sz="1400" dirty="0"/>
          </a:p>
        </p:txBody>
      </p:sp>
      <p:sp>
        <p:nvSpPr>
          <p:cNvPr id="7" name="Shape 5"/>
          <p:cNvSpPr/>
          <p:nvPr/>
        </p:nvSpPr>
        <p:spPr>
          <a:xfrm>
            <a:off x="6200775" y="1882775"/>
            <a:ext cx="5175250" cy="1944370"/>
          </a:xfrm>
          <a:prstGeom prst="roundRect">
            <a:avLst>
              <a:gd name="adj" fmla="val 5062"/>
            </a:avLst>
          </a:prstGeom>
          <a:solidFill>
            <a:srgbClr val="FDFDFB"/>
          </a:solidFill>
          <a:ln w="6350">
            <a:solidFill>
              <a:srgbClr val="DCE1E8"/>
            </a:solidFill>
            <a:prstDash val="solid"/>
          </a:ln>
        </p:spPr>
      </p:sp>
      <p:sp>
        <p:nvSpPr>
          <p:cNvPr id="8" name="Text 6"/>
          <p:cNvSpPr/>
          <p:nvPr/>
        </p:nvSpPr>
        <p:spPr>
          <a:xfrm>
            <a:off x="6456680" y="2138679"/>
            <a:ext cx="4803343" cy="299720"/>
          </a:xfrm>
          <a:prstGeom prst="rect">
            <a:avLst/>
          </a:prstGeom>
          <a:noFill/>
          <a:ln/>
        </p:spPr>
        <p:txBody>
          <a:bodyPr wrap="square" lIns="0" tIns="0" rIns="0" bIns="0" rtlCol="0" anchor="t">
            <a:normAutofit/>
          </a:bodyPr>
          <a:lstStyle/>
          <a:p>
            <a:pPr marL="0" indent="0" algn="l">
              <a:lnSpc>
                <a:spcPts val="2160"/>
              </a:lnSpc>
              <a:buNone/>
            </a:pPr>
            <a:r>
              <a:rPr lang="en-US" sz="1800" b="1" dirty="0">
                <a:solidFill>
                  <a:srgbClr val="2F6BDB"/>
                </a:solidFill>
                <a:latin typeface="Space Grotesk" pitchFamily="34" charset="0"/>
                <a:ea typeface="Space Grotesk" pitchFamily="34" charset="-122"/>
                <a:cs typeface="Space Grotesk" pitchFamily="34" charset="-120"/>
              </a:rPr>
              <a:t>Next steps</a:t>
            </a:r>
            <a:endParaRPr lang="en-US" sz="1800" dirty="0"/>
          </a:p>
        </p:txBody>
      </p:sp>
      <p:sp>
        <p:nvSpPr>
          <p:cNvPr id="9" name="Text 7"/>
          <p:cNvSpPr/>
          <p:nvPr/>
        </p:nvSpPr>
        <p:spPr>
          <a:xfrm>
            <a:off x="6541262" y="2540000"/>
            <a:ext cx="4711141" cy="1056640"/>
          </a:xfrm>
          <a:prstGeom prst="rect">
            <a:avLst/>
          </a:prstGeom>
          <a:noFill/>
          <a:ln/>
        </p:spPr>
        <p:txBody>
          <a:bodyPr wrap="square" lIns="0" tIns="0" rIns="0" bIns="0" rtlCol="0" anchor="t">
            <a:normAutofit/>
          </a:bodyPr>
          <a:lstStyle/>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Label 5–10 pages per new lab layout</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Try PaddleOCR or TrOCR on value crops</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Flag values far outside their own range</a:t>
            </a:r>
            <a:endParaRPr lang="en-US" sz="1400" dirty="0"/>
          </a:p>
          <a:p>
            <a:pPr marL="169418" indent="-169418" algn="l">
              <a:lnSpc>
                <a:spcPts val="2030"/>
              </a:lnSpc>
              <a:buSzPct val="100000"/>
              <a:buChar char="•"/>
            </a:pPr>
            <a:r>
              <a:rPr lang="en-US" sz="1400" dirty="0">
                <a:solidFill>
                  <a:srgbClr val="14213D"/>
                </a:solidFill>
                <a:latin typeface="DM Sans" pitchFamily="34" charset="0"/>
                <a:ea typeface="DM Sans" pitchFamily="34" charset="-122"/>
                <a:cs typeface="DM Sans" pitchFamily="34" charset="-120"/>
              </a:rPr>
              <a:t>Deploy on AWS with a real account</a:t>
            </a:r>
            <a:endParaRPr lang="en-US" sz="1400" dirty="0"/>
          </a:p>
        </p:txBody>
      </p:sp>
      <p:sp>
        <p:nvSpPr>
          <p:cNvPr id="10" name="Text 8"/>
          <p:cNvSpPr/>
          <p:nvPr/>
        </p:nvSpPr>
        <p:spPr>
          <a:xfrm>
            <a:off x="812800" y="6238242"/>
            <a:ext cx="5984081" cy="238760"/>
          </a:xfrm>
          <a:prstGeom prst="rect">
            <a:avLst/>
          </a:prstGeom>
          <a:noFill/>
          <a:ln/>
        </p:spPr>
        <p:txBody>
          <a:bodyPr wrap="square" lIns="0" tIns="0" rIns="0" bIns="0" rtlCol="0" anchor="t">
            <a:normAutofit/>
          </a:bodyPr>
          <a:lstStyle/>
          <a:p>
            <a:pPr marL="0" indent="0" algn="l">
              <a:lnSpc>
                <a:spcPts val="1680"/>
              </a:lnSpc>
              <a:buNone/>
            </a:pPr>
            <a:r>
              <a:rPr lang="en-US" sz="1200" dirty="0">
                <a:solidFill>
                  <a:srgbClr val="2F6BDB"/>
                </a:solidFill>
                <a:latin typeface="DM Sans" pitchFamily="34" charset="0"/>
                <a:ea typeface="DM Sans" pitchFamily="34" charset="-122"/>
                <a:cs typeface="DM Sans" pitchFamily="34" charset="-120"/>
              </a:rPr>
              <a:t>github.com/Subharshi1997/NextHikes-Project-9-MedicalReportReader</a:t>
            </a:r>
            <a:endParaRPr lang="en-US" sz="1200" dirty="0"/>
          </a:p>
        </p:txBody>
      </p:sp>
      <p:sp>
        <p:nvSpPr>
          <p:cNvPr id="11" name="Text 9"/>
          <p:cNvSpPr/>
          <p:nvPr/>
        </p:nvSpPr>
        <p:spPr>
          <a:xfrm>
            <a:off x="11187827" y="6238242"/>
            <a:ext cx="191373" cy="238760"/>
          </a:xfrm>
          <a:prstGeom prst="rect">
            <a:avLst/>
          </a:prstGeom>
          <a:noFill/>
          <a:ln/>
        </p:spPr>
        <p:txBody>
          <a:bodyPr wrap="square" lIns="0" tIns="0" rIns="0" bIns="0" rtlCol="0" anchor="t">
            <a:normAutofit/>
          </a:bodyPr>
          <a:lstStyle/>
          <a:p>
            <a:pPr marL="0" indent="0" algn="r">
              <a:lnSpc>
                <a:spcPts val="1680"/>
              </a:lnSpc>
              <a:buNone/>
            </a:pPr>
            <a:r>
              <a:rPr lang="en-US" sz="1200" dirty="0">
                <a:solidFill>
                  <a:srgbClr val="6B7586"/>
                </a:solidFill>
                <a:latin typeface="DM Sans" pitchFamily="34" charset="0"/>
                <a:ea typeface="DM Sans" pitchFamily="34" charset="-122"/>
                <a:cs typeface="DM Sans" pitchFamily="34" charset="-120"/>
              </a:rPr>
              <a:t>15</a:t>
            </a:r>
            <a:endParaRPr lang="en-US" sz="1200" dirty="0"/>
          </a:p>
        </p:txBody>
      </p:sp>
    </p:spTree>
  </p:cSld>
  <p:clrMapOvr>
    <a:masterClrMapping/>
  </p:clrMapOvr>
</p:sld>
</file>

<file path=ppt/theme/theme1.xml><?xml version="1.0" encoding="utf-8"?>
<a:theme xmlns:a="http://schemas.openxmlformats.org/drawingml/2006/main" name="Lab Report OCR: Project Overview">
  <a:themeElements>
    <a:clrScheme name="Lab Report OCR: Project Overview">
      <a:dk1>
        <a:srgbClr val="14213D"/>
      </a:dk1>
      <a:lt1>
        <a:srgbClr val="F7F7F3"/>
      </a:lt1>
      <a:dk2>
        <a:srgbClr val="4D576B"/>
      </a:dk2>
      <a:lt2>
        <a:srgbClr val="E0E2E1"/>
      </a:lt2>
      <a:accent1>
        <a:srgbClr val="2F6BDB"/>
      </a:accent1>
      <a:accent2>
        <a:srgbClr val="B8571A"/>
      </a:accent2>
      <a:accent3>
        <a:srgbClr val="F0A060"/>
      </a:accent3>
      <a:accent4>
        <a:srgbClr val="8FB3F5"/>
      </a:accent4>
      <a:accent5>
        <a:srgbClr val="4A5568"/>
      </a:accent5>
      <a:accent6>
        <a:srgbClr val="6B7586"/>
      </a:accent6>
      <a:hlink>
        <a:srgbClr val="0563C1"/>
      </a:hlink>
      <a:folHlink>
        <a:srgbClr val="954F72"/>
      </a:folHlink>
    </a:clrScheme>
    <a:fontScheme name="Lab Report OCR: Project Overview">
      <a:majorFont>
        <a:latin typeface="Space Grotesk"/>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DM San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TotalTime>
  <Words>3463</Words>
  <Application>Microsoft Office PowerPoint</Application>
  <PresentationFormat>Widescreen</PresentationFormat>
  <Paragraphs>266</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JetBrains Mono</vt:lpstr>
      <vt:lpstr>Arial</vt:lpstr>
      <vt:lpstr>Space Grotesk</vt:lpstr>
      <vt:lpstr>DM Sans</vt:lpstr>
      <vt:lpstr>Lab Report OCR: Project Overview</vt:lpstr>
      <vt:lpstr>Reading lab reports with YOLO and Tesseract</vt:lpstr>
      <vt:lpstr>Lab results are trapped in photos and PDFs</vt:lpstr>
      <vt:lpstr>What the project covers, and what it does not</vt:lpstr>
      <vt:lpstr>Every task in the brief, delivered</vt:lpstr>
      <vt:lpstr>100 photos, but only three printed reports</vt:lpstr>
      <vt:lpstr>64 boxes drawn by hand became 1,760 labels</vt:lpstr>
      <vt:lpstr>Six stages from page to spreadsheet</vt:lpstr>
      <vt:lpstr>The brief’s steps, then tuned one knob at a time</vt:lpstr>
      <vt:lpstr>YOLOv3, as the brief asks, against a 2026 nano model</vt:lpstr>
      <vt:lpstr>Nine in ten fields read exactly right</vt:lpstr>
      <vt:lpstr>18 of 19 wrong rows were flagged for a person</vt:lpstr>
      <vt:lpstr>Upload a report, check the table, download</vt:lpstr>
      <vt:lpstr>Each kind of PDF is read its own way</vt:lpstr>
      <vt:lpstr>One Docker image, four ways to run</vt:lpstr>
      <vt:lpstr>Where it stops today, and what comes next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Lab Report OCR: Project Overview</dc:title>
  <dc:subject/>
  <dc:creator/>
  <dc:description>The font files embedded in this presentation (stored inside it under ppt/fonts/) are files Google Fonts served when the presentation was exported, unpacked from WOFF2 to TrueType and wrapped as Embedded OpenType, the form PowerPoint reads. A file that named another cut of its family, unless it reserves that name, was also changed where it could be, so that PowerPoint matches it to this presentation’s text: its family and style names and the weight and style it declares were rewritten, and any digital signature, which no longer matched, was removed. Google Fonts serves each family in parts, one file per range of characters, so these may not be a family’s complete files. Each family’s copyright lines and license follow, and each family stays under its own license; if you pass this file on, keep these notices with it.
DM Sans
Copyright 2014 The DM Sans Project Authors (https://github.com/googlefonts/dm-fonts)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Space Grotesk
Copyright 2020 The Space Grotesk Project Authors (https://github.com/floriankarsten/space-grotesk)
This Font Software is licensed under the SIL Open Font License, Version 1.1.
This license is copied below, and is also available with a FAQ at:
http://scripts.sil.org/OFL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JetBrains Mono
Copyright 2020 The JetBrains Mono Project Authors (https://github.com/JetBrains/JetBrainsMono)
This Font Software is licensed under the SIL Open Font License, Version 1.1.
This license is copied below, and is also available with a FAQ at: https://scripts.sil.org/OFL
-----------------------------------------------------------
SIL OPEN FONT LICENSE Version 1.1 - 26 February 2007
-----------------------------------------------------------
PREAMBLE
The goals of the Open Font License (OFL) are to stimulate worldwide
development of collaborative font projects, to support the font creation
efforts of academic and linguistic communities, and to provide a free and
open framework in which fonts may be shared and improved in partnership
with others.
The OFL allows the licensed fonts to be used, studied, modified and
redistributed freely as long as they are not sold by themselves. The
fonts, including any derivative works, can be bundled, embedded,
redistributed and/or sold with any software provided that any reserved
names are not used by derivative works. The fonts and derivatives,
however, cannot be released under any other type of license. The
requirement for fonts to remain under this license does not apply
to any document created using the fonts or their derivatives.
DEFINITIONS
"Font Software" refers to the set of files released by the Copyright
Holder(s) under this license and clearly marked as such. This may
include source files, build scripts and documentation.
"Reserved Font Name" refers to any names specified as such after the
copyright statement(s).
"Original Version" refers to the collection of Font Software components as
distributed by the Copyright Holder(s).
"Modified Version" refers to any derivative made by adding to, deleting,
or substituting -- in part or in whole -- any of the components of the
Original Version, by changing formats or by porting the Font Software to a
new environment.
"Author" refers to any designer, engineer, programmer, technical
writer or other person who contributed to the Font Software.
PERMISSION &amp; CONDITIONS
Permission is hereby granted, free of charge, to any person obtaining
a copy of the Font Software, to use, study, copy, merge, embed, modify,
redistribute, and sell modified and unmodified copies of the Font
Software, subject to the following conditions:
1) Neither the Font Software nor any of its individual components,
in Original or Modified Versions, may be sold by itself.
2) Original or Modified Versions of the Font Software may be bundled,
redistributed and/or sold with any software, provided that each copy
contains the above copyright notice and this license. These can be
included either as stand-alone text files, human-readable headers or
in the appropriate machine-readable metadata fields within text or
binary files as long as those fields can be easily viewed by the user.
3) No Modified Version of the Font Software may use the Reserved Font
Name(s) unless explicit written permission is granted by the corresponding
Copyright Holder. This restriction only applies to the primary font name as
presented to the users.
4) The name(s) of the Copyright Holder(s) or the Author(s) of the Font
Software shall not be used to promote, endorse or advertise any
Modified Version, except to acknowledge the contribution(s) of the
Copyright Holder(s) and the Author(s) or with their explicit written
permission.
5) The Font Software, modified or unmodified, in part or in whole,
must be distributed entirely under this license, and must not be
distributed under any other license. The requirement for fonts to
remain under this license does not apply to any document created
using the Font Software.
TERMINATION
This license becomes null and void if any of the above conditions are
not met.
DISCLAIMER
THE FONT SOFTWARE IS PROVIDED "AS IS", WITHOUT WARRANTY OF ANY KIND,
EXPRESS OR IMPLIED, INCLUDING BUT NOT LIMITED TO ANY WARRANTIES OF
MERCHANTABILITY, FITNESS FOR A PARTICULAR PURPOSE AND NONINFRINGEMENT
OF COPYRIGHT, PATENT, TRADEMARK, OR OTHER RIGHT. IN NO EVENT SHALL THE
COPYRIGHT HOLDER BE LIABLE FOR ANY CLAIM, DAMAGES OR OTHER LIABILITY,
INCLUDING ANY GENERAL, SPECIAL, INDIRECT, INCIDENTAL, OR CONSEQUENTIAL
DAMAGES, WHETHER IN AN ACTION OF CONTRACT, TORT OR OTHERWISE, ARISING
FROM, OUT OF THE USE OR INABILITY TO USE THE FONT SOFTWARE OR FROM
OTHER DEALINGS IN THE FONT SOFTWARE.
</dc:description>
  <cp:lastModifiedBy>Subharshi Das Purkayastha</cp:lastModifiedBy>
  <cp:revision>2</cp:revision>
  <dcterms:created xsi:type="dcterms:W3CDTF">2026-10-25T13:30:58Z</dcterms:created>
  <dcterms:modified xsi:type="dcterms:W3CDTF">2026-10-25T13:35:45Z</dcterms:modified>
</cp:coreProperties>
</file>